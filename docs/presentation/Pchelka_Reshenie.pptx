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98fb53aa6e46b6" /><Relationship Type="http://schemas.openxmlformats.org/officeDocument/2006/relationships/extended-properties" Target="/docProps/app.xml" Id="R8613f2bd23384d46" /><Relationship Type="http://schemas.openxmlformats.org/officeDocument/2006/relationships/officeDocument" Target="/ppt/presentation.xml" Id="R084b787b5da740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ce023289f54ede"/>
  </p:sldMasterIdLst>
  <p:notesMasterIdLst>
    <p:notesMasterId xmlns:r="http://schemas.openxmlformats.org/officeDocument/2006/relationships" r:id="Re268eac02f654c8d"/>
  </p:notesMasterIdLst>
  <p:sldIdLst>
    <p:sldId xmlns:r="http://schemas.openxmlformats.org/officeDocument/2006/relationships" id="256" r:id="Rc34fb61d3dd44bf3"/>
    <p:sldId xmlns:r="http://schemas.openxmlformats.org/officeDocument/2006/relationships" id="257" r:id="R69e203a6bbbf4168"/>
    <p:sldId xmlns:r="http://schemas.openxmlformats.org/officeDocument/2006/relationships" id="258" r:id="R0fa24ae3b8d740b9"/>
    <p:sldId xmlns:r="http://schemas.openxmlformats.org/officeDocument/2006/relationships" id="259" r:id="R265219be18a84588"/>
    <p:sldId xmlns:r="http://schemas.openxmlformats.org/officeDocument/2006/relationships" id="260" r:id="R8ebc7bdb8d434713"/>
    <p:sldId xmlns:r="http://schemas.openxmlformats.org/officeDocument/2006/relationships" id="261" r:id="R65962ea259814faf"/>
    <p:sldId xmlns:r="http://schemas.openxmlformats.org/officeDocument/2006/relationships" id="262" r:id="Rd63851118fa74b4b"/>
    <p:sldId xmlns:r="http://schemas.openxmlformats.org/officeDocument/2006/relationships" id="263" r:id="R5e01c286bac245b1"/>
    <p:sldId xmlns:r="http://schemas.openxmlformats.org/officeDocument/2006/relationships" id="264" r:id="R369210d537a4401a"/>
    <p:sldId xmlns:r="http://schemas.openxmlformats.org/officeDocument/2006/relationships" id="265" r:id="Rf849e7823e2d4702"/>
    <p:sldId xmlns:r="http://schemas.openxmlformats.org/officeDocument/2006/relationships" id="266" r:id="R82a890241a264a27"/>
    <p:sldId xmlns:r="http://schemas.openxmlformats.org/officeDocument/2006/relationships" id="267" r:id="Rf427b05e44a24e85"/>
    <p:sldId xmlns:r="http://schemas.openxmlformats.org/officeDocument/2006/relationships" id="268" r:id="R314e491a32654640"/>
    <p:sldId xmlns:r="http://schemas.openxmlformats.org/officeDocument/2006/relationships" id="269" r:id="Rd94c664d81964905"/>
    <p:sldId xmlns:r="http://schemas.openxmlformats.org/officeDocument/2006/relationships" id="270" r:id="Rfdee7725369946e2"/>
    <p:sldId xmlns:r="http://schemas.openxmlformats.org/officeDocument/2006/relationships" id="271" r:id="R71a47125d408421c"/>
    <p:sldId xmlns:r="http://schemas.openxmlformats.org/officeDocument/2006/relationships" id="272" r:id="Rd66365224afc4913"/>
    <p:sldId xmlns:r="http://schemas.openxmlformats.org/officeDocument/2006/relationships" id="273" r:id="Rfc65928e41df42fe"/>
    <p:sldId xmlns:r="http://schemas.openxmlformats.org/officeDocument/2006/relationships" id="274" r:id="R5b899121e99046ff"/>
    <p:sldId xmlns:r="http://schemas.openxmlformats.org/officeDocument/2006/relationships" id="275" r:id="R342001bedf0a4923"/>
    <p:sldId xmlns:r="http://schemas.openxmlformats.org/officeDocument/2006/relationships" id="276" r:id="Rcbef5b5ab5c04b18"/>
    <p:sldId xmlns:r="http://schemas.openxmlformats.org/officeDocument/2006/relationships" id="277" r:id="Re1d0a1362f3c4f1a"/>
    <p:sldId xmlns:r="http://schemas.openxmlformats.org/officeDocument/2006/relationships" id="278" r:id="Rf49e314756d0428b"/>
    <p:sldId xmlns:r="http://schemas.openxmlformats.org/officeDocument/2006/relationships" id="279" r:id="R99306f301ffd42aa"/>
    <p:sldId xmlns:r="http://schemas.openxmlformats.org/officeDocument/2006/relationships" id="280" r:id="R8dffdb86f6e64a04"/>
    <p:sldId xmlns:r="http://schemas.openxmlformats.org/officeDocument/2006/relationships" id="281" r:id="R1daf5bc2bdac4007"/>
    <p:sldId xmlns:r="http://schemas.openxmlformats.org/officeDocument/2006/relationships" id="282" r:id="Refc23ee5ee5a48ef"/>
    <p:sldId xmlns:r="http://schemas.openxmlformats.org/officeDocument/2006/relationships" id="283" r:id="R3875554bce214fea"/>
    <p:sldId xmlns:r="http://schemas.openxmlformats.org/officeDocument/2006/relationships" id="284" r:id="Rf50311469735492b"/>
    <p:sldId xmlns:r="http://schemas.openxmlformats.org/officeDocument/2006/relationships" id="285" r:id="R8e81710124164e50"/>
    <p:sldId xmlns:r="http://schemas.openxmlformats.org/officeDocument/2006/relationships" id="286" r:id="R114172dfbe614f42"/>
    <p:sldId xmlns:r="http://schemas.openxmlformats.org/officeDocument/2006/relationships" id="287" r:id="Re75293ea9efb48cd"/>
    <p:sldId xmlns:r="http://schemas.openxmlformats.org/officeDocument/2006/relationships" id="288" r:id="R7a2afe6b01314ac3"/>
    <p:sldId xmlns:r="http://schemas.openxmlformats.org/officeDocument/2006/relationships" id="289" r:id="R4d3e6bd5bfb74515"/>
    <p:sldId xmlns:r="http://schemas.openxmlformats.org/officeDocument/2006/relationships" id="290" r:id="R63d04839632543b2"/>
    <p:sldId xmlns:r="http://schemas.openxmlformats.org/officeDocument/2006/relationships" id="291" r:id="Rbeafc948c31f421d"/>
    <p:sldId xmlns:r="http://schemas.openxmlformats.org/officeDocument/2006/relationships" id="292" r:id="Radcd6e41e67b465f"/>
    <p:sldId xmlns:r="http://schemas.openxmlformats.org/officeDocument/2006/relationships" id="293" r:id="Rebc554dafd174957"/>
    <p:sldId xmlns:r="http://schemas.openxmlformats.org/officeDocument/2006/relationships" id="294" r:id="R92c12dfc22df45ab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8839337f3240e3" /><Relationship Type="http://schemas.openxmlformats.org/officeDocument/2006/relationships/slideMaster" Target="/ppt/slideMasters/slideMaster1.xml" Id="R34ce023289f54ede" /><Relationship Type="http://schemas.openxmlformats.org/officeDocument/2006/relationships/notesMaster" Target="/ppt/notesMasters/notesMaster1.xml" Id="Re268eac02f654c8d" /><Relationship Type="http://schemas.openxmlformats.org/officeDocument/2006/relationships/presProps" Target="/ppt/presProps.xml" Id="Rd683f0fb09094fd3" /><Relationship Type="http://schemas.openxmlformats.org/officeDocument/2006/relationships/tableStyles" Target="/ppt/tableStyles.xml" Id="Ra695fa833c1a4fca" /><Relationship Type="http://schemas.openxmlformats.org/officeDocument/2006/relationships/slide" Target="/ppt/slides/slide1.xml" Id="Rc34fb61d3dd44bf3" /><Relationship Type="http://schemas.openxmlformats.org/officeDocument/2006/relationships/slide" Target="/ppt/slides/slide2.xml" Id="R69e203a6bbbf4168" /><Relationship Type="http://schemas.openxmlformats.org/officeDocument/2006/relationships/slide" Target="/ppt/slides/slide3.xml" Id="R0fa24ae3b8d740b9" /><Relationship Type="http://schemas.openxmlformats.org/officeDocument/2006/relationships/slide" Target="/ppt/slides/slide4.xml" Id="R265219be18a84588" /><Relationship Type="http://schemas.openxmlformats.org/officeDocument/2006/relationships/slide" Target="/ppt/slides/slide5.xml" Id="R8ebc7bdb8d434713" /><Relationship Type="http://schemas.openxmlformats.org/officeDocument/2006/relationships/slide" Target="/ppt/slides/slide6.xml" Id="R65962ea259814faf" /><Relationship Type="http://schemas.openxmlformats.org/officeDocument/2006/relationships/slide" Target="/ppt/slides/slide7.xml" Id="Rd63851118fa74b4b" /><Relationship Type="http://schemas.openxmlformats.org/officeDocument/2006/relationships/slide" Target="/ppt/slides/slide8.xml" Id="R5e01c286bac245b1" /><Relationship Type="http://schemas.openxmlformats.org/officeDocument/2006/relationships/slide" Target="/ppt/slides/slide9.xml" Id="R369210d537a4401a" /><Relationship Type="http://schemas.openxmlformats.org/officeDocument/2006/relationships/slide" Target="/ppt/slides/slide10.xml" Id="Rf849e7823e2d4702" /><Relationship Type="http://schemas.openxmlformats.org/officeDocument/2006/relationships/slide" Target="/ppt/slides/slide11.xml" Id="R82a890241a264a27" /><Relationship Type="http://schemas.openxmlformats.org/officeDocument/2006/relationships/slide" Target="/ppt/slides/slide12.xml" Id="Rf427b05e44a24e85" /><Relationship Type="http://schemas.openxmlformats.org/officeDocument/2006/relationships/slide" Target="/ppt/slides/slide13.xml" Id="R314e491a32654640" /><Relationship Type="http://schemas.openxmlformats.org/officeDocument/2006/relationships/slide" Target="/ppt/slides/slide14.xml" Id="Rd94c664d81964905" /><Relationship Type="http://schemas.openxmlformats.org/officeDocument/2006/relationships/slide" Target="/ppt/slides/slide15.xml" Id="Rfdee7725369946e2" /><Relationship Type="http://schemas.openxmlformats.org/officeDocument/2006/relationships/slide" Target="/ppt/slides/slide16.xml" Id="R71a47125d408421c" /><Relationship Type="http://schemas.openxmlformats.org/officeDocument/2006/relationships/slide" Target="/ppt/slides/slide17.xml" Id="Rd66365224afc4913" /><Relationship Type="http://schemas.openxmlformats.org/officeDocument/2006/relationships/slide" Target="/ppt/slides/slide18.xml" Id="Rfc65928e41df42fe" /><Relationship Type="http://schemas.openxmlformats.org/officeDocument/2006/relationships/slide" Target="/ppt/slides/slide19.xml" Id="R5b899121e99046ff" /><Relationship Type="http://schemas.openxmlformats.org/officeDocument/2006/relationships/slide" Target="/ppt/slides/slide20.xml" Id="R342001bedf0a4923" /><Relationship Type="http://schemas.openxmlformats.org/officeDocument/2006/relationships/slide" Target="/ppt/slides/slide21.xml" Id="Rcbef5b5ab5c04b18" /><Relationship Type="http://schemas.openxmlformats.org/officeDocument/2006/relationships/slide" Target="/ppt/slides/slide22.xml" Id="Re1d0a1362f3c4f1a" /><Relationship Type="http://schemas.openxmlformats.org/officeDocument/2006/relationships/slide" Target="/ppt/slides/slide23.xml" Id="Rf49e314756d0428b" /><Relationship Type="http://schemas.openxmlformats.org/officeDocument/2006/relationships/slide" Target="/ppt/slides/slide24.xml" Id="R99306f301ffd42aa" /><Relationship Type="http://schemas.openxmlformats.org/officeDocument/2006/relationships/slide" Target="/ppt/slides/slide25.xml" Id="R8dffdb86f6e64a04" /><Relationship Type="http://schemas.openxmlformats.org/officeDocument/2006/relationships/slide" Target="/ppt/slides/slide26.xml" Id="R1daf5bc2bdac4007" /><Relationship Type="http://schemas.openxmlformats.org/officeDocument/2006/relationships/slide" Target="/ppt/slides/slide27.xml" Id="Refc23ee5ee5a48ef" /><Relationship Type="http://schemas.openxmlformats.org/officeDocument/2006/relationships/slide" Target="/ppt/slides/slide28.xml" Id="R3875554bce214fea" /><Relationship Type="http://schemas.openxmlformats.org/officeDocument/2006/relationships/slide" Target="/ppt/slides/slide29.xml" Id="Rf50311469735492b" /><Relationship Type="http://schemas.openxmlformats.org/officeDocument/2006/relationships/slide" Target="/ppt/slides/slide30.xml" Id="R8e81710124164e50" /><Relationship Type="http://schemas.openxmlformats.org/officeDocument/2006/relationships/slide" Target="/ppt/slides/slide31.xml" Id="R114172dfbe614f42" /><Relationship Type="http://schemas.openxmlformats.org/officeDocument/2006/relationships/slide" Target="/ppt/slides/slide32.xml" Id="Re75293ea9efb48cd" /><Relationship Type="http://schemas.openxmlformats.org/officeDocument/2006/relationships/slide" Target="/ppt/slides/slide33.xml" Id="R7a2afe6b01314ac3" /><Relationship Type="http://schemas.openxmlformats.org/officeDocument/2006/relationships/slide" Target="/ppt/slides/slide34.xml" Id="R4d3e6bd5bfb74515" /><Relationship Type="http://schemas.openxmlformats.org/officeDocument/2006/relationships/slide" Target="/ppt/slides/slide35.xml" Id="R63d04839632543b2" /><Relationship Type="http://schemas.openxmlformats.org/officeDocument/2006/relationships/slide" Target="/ppt/slides/slide36.xml" Id="Rbeafc948c31f421d" /><Relationship Type="http://schemas.openxmlformats.org/officeDocument/2006/relationships/slide" Target="/ppt/slides/slide37.xml" Id="Radcd6e41e67b465f" /><Relationship Type="http://schemas.openxmlformats.org/officeDocument/2006/relationships/slide" Target="/ppt/slides/slide38.xml" Id="Rebc554dafd174957" /><Relationship Type="http://schemas.openxmlformats.org/officeDocument/2006/relationships/slide" Target="/ppt/slides/slide39.xml" Id="R92c12dfc22df45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ff642af8ad4e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6eeeace2424ed7" /><Relationship Type="http://schemas.openxmlformats.org/officeDocument/2006/relationships/notesMaster" Target="/ppt/notesMasters/notesMaster1.xml" Id="Rd56b506b8b6e47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4c211b5d694b72" /><Relationship Type="http://schemas.openxmlformats.org/officeDocument/2006/relationships/notesMaster" Target="/ppt/notesMasters/notesMaster1.xml" Id="R04b713355f034e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dc49e8726a425a" /><Relationship Type="http://schemas.openxmlformats.org/officeDocument/2006/relationships/notesMaster" Target="/ppt/notesMasters/notesMaster1.xml" Id="R1dc59df71a5b4b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b430f3c7b44317" /><Relationship Type="http://schemas.openxmlformats.org/officeDocument/2006/relationships/notesMaster" Target="/ppt/notesMasters/notesMaster1.xml" Id="Rd66b6f535bf44f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8c8847bf184c4a" /><Relationship Type="http://schemas.openxmlformats.org/officeDocument/2006/relationships/notesMaster" Target="/ppt/notesMasters/notesMaster1.xml" Id="R362534636330434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3d2ae371316427f" /><Relationship Type="http://schemas.openxmlformats.org/officeDocument/2006/relationships/notesMaster" Target="/ppt/notesMasters/notesMaster1.xml" Id="Rfa9c5595fbc14b5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431597e4ac34bea" /><Relationship Type="http://schemas.openxmlformats.org/officeDocument/2006/relationships/notesMaster" Target="/ppt/notesMasters/notesMaster1.xml" Id="Rbedf6a3f4e43485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2fddfcaeccd44f5" /><Relationship Type="http://schemas.openxmlformats.org/officeDocument/2006/relationships/notesMaster" Target="/ppt/notesMasters/notesMaster1.xml" Id="Rb9bacf61ea964c5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b9092dc42dc422b" /><Relationship Type="http://schemas.openxmlformats.org/officeDocument/2006/relationships/notesMaster" Target="/ppt/notesMasters/notesMaster1.xml" Id="R495d4c5aa9cc495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608e0b8875b4b59" /><Relationship Type="http://schemas.openxmlformats.org/officeDocument/2006/relationships/notesMaster" Target="/ppt/notesMasters/notesMaster1.xml" Id="R974dc59015b24a3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1d502495c344e36" /><Relationship Type="http://schemas.openxmlformats.org/officeDocument/2006/relationships/notesMaster" Target="/ppt/notesMasters/notesMaster1.xml" Id="R7f0540a7914d4cc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e2f38d726924d5b" /><Relationship Type="http://schemas.openxmlformats.org/officeDocument/2006/relationships/notesMaster" Target="/ppt/notesMasters/notesMaster1.xml" Id="Rbead2e91f2854ae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e1b99489963451e" /><Relationship Type="http://schemas.openxmlformats.org/officeDocument/2006/relationships/notesMaster" Target="/ppt/notesMasters/notesMaster1.xml" Id="R19591c1f381c443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2075af2fdad4b68" /><Relationship Type="http://schemas.openxmlformats.org/officeDocument/2006/relationships/notesMaster" Target="/ppt/notesMasters/notesMaster1.xml" Id="R07f580d12c5f4ba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2f5c2389d054607" /><Relationship Type="http://schemas.openxmlformats.org/officeDocument/2006/relationships/notesMaster" Target="/ppt/notesMasters/notesMaster1.xml" Id="Rd0186d2dce9b417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a6375ad4be84a90" /><Relationship Type="http://schemas.openxmlformats.org/officeDocument/2006/relationships/notesMaster" Target="/ppt/notesMasters/notesMaster1.xml" Id="Rf992878e75f9436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e9c51c4bc374fbc" /><Relationship Type="http://schemas.openxmlformats.org/officeDocument/2006/relationships/notesMaster" Target="/ppt/notesMasters/notesMaster1.xml" Id="R1df2a04aade248a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bc3be04679e432c" /><Relationship Type="http://schemas.openxmlformats.org/officeDocument/2006/relationships/notesMaster" Target="/ppt/notesMasters/notesMaster1.xml" Id="R744845b2acd942f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714da52a920492a" /><Relationship Type="http://schemas.openxmlformats.org/officeDocument/2006/relationships/notesMaster" Target="/ppt/notesMasters/notesMaster1.xml" Id="R29318168864f4d1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ea14663334c4507" /><Relationship Type="http://schemas.openxmlformats.org/officeDocument/2006/relationships/notesMaster" Target="/ppt/notesMasters/notesMaster1.xml" Id="R92815a9c0fa7427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b0ee610fcfb4242" /><Relationship Type="http://schemas.openxmlformats.org/officeDocument/2006/relationships/notesMaster" Target="/ppt/notesMasters/notesMaster1.xml" Id="R7c0e4613e25942d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e7fbc82abfb4167" /><Relationship Type="http://schemas.openxmlformats.org/officeDocument/2006/relationships/notesMaster" Target="/ppt/notesMasters/notesMaster1.xml" Id="R320f65e579d5444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160ecfe1f3d4281" /><Relationship Type="http://schemas.openxmlformats.org/officeDocument/2006/relationships/notesMaster" Target="/ppt/notesMasters/notesMaster1.xml" Id="R648fd08e1d5c4b8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64e952806e44b1d" /><Relationship Type="http://schemas.openxmlformats.org/officeDocument/2006/relationships/notesMaster" Target="/ppt/notesMasters/notesMaster1.xml" Id="Rc2330573145a46d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8186616a3364831" /><Relationship Type="http://schemas.openxmlformats.org/officeDocument/2006/relationships/notesMaster" Target="/ppt/notesMasters/notesMaster1.xml" Id="R3b3c20b2f8ea47c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95411f450224f80" /><Relationship Type="http://schemas.openxmlformats.org/officeDocument/2006/relationships/notesMaster" Target="/ppt/notesMasters/notesMaster1.xml" Id="R58dc2b21936f446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1befd3d910743ff" /><Relationship Type="http://schemas.openxmlformats.org/officeDocument/2006/relationships/notesMaster" Target="/ppt/notesMasters/notesMaster1.xml" Id="Rcef17975df114ca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f544fc9c08a40ed" /><Relationship Type="http://schemas.openxmlformats.org/officeDocument/2006/relationships/notesMaster" Target="/ppt/notesMasters/notesMaster1.xml" Id="R11fb1ed9b5224a3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36955eba44b4b0d" /><Relationship Type="http://schemas.openxmlformats.org/officeDocument/2006/relationships/notesMaster" Target="/ppt/notesMasters/notesMaster1.xml" Id="R1cb5c865d33a466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55b78b7c3a94949" /><Relationship Type="http://schemas.openxmlformats.org/officeDocument/2006/relationships/notesMaster" Target="/ppt/notesMasters/notesMaster1.xml" Id="Rd63a0bb2dbce480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ff5f0f5c50e404c" /><Relationship Type="http://schemas.openxmlformats.org/officeDocument/2006/relationships/notesMaster" Target="/ppt/notesMasters/notesMaster1.xml" Id="R4242496b834242b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63a94086a2b493b" /><Relationship Type="http://schemas.openxmlformats.org/officeDocument/2006/relationships/notesMaster" Target="/ppt/notesMasters/notesMaster1.xml" Id="R0d48695002834f0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db4d6ecbb17f4fae" /><Relationship Type="http://schemas.openxmlformats.org/officeDocument/2006/relationships/notesMaster" Target="/ppt/notesMasters/notesMaster1.xml" Id="Racf64f80619f4e9c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3a63bd7f15c04832" /><Relationship Type="http://schemas.openxmlformats.org/officeDocument/2006/relationships/notesMaster" Target="/ppt/notesMasters/notesMaster1.xml" Id="R94de9d27c9a8403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d2dd5bd637264d79" /><Relationship Type="http://schemas.openxmlformats.org/officeDocument/2006/relationships/notesMaster" Target="/ppt/notesMasters/notesMaster1.xml" Id="R3aa203ca3ce349ea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33306630bf4f4569" /><Relationship Type="http://schemas.openxmlformats.org/officeDocument/2006/relationships/notesMaster" Target="/ppt/notesMasters/notesMaster1.xml" Id="Rfdb448f8efe14cb9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25de57a85a164bb9" /><Relationship Type="http://schemas.openxmlformats.org/officeDocument/2006/relationships/notesMaster" Target="/ppt/notesMasters/notesMaster1.xml" Id="R2631c02bdac4442c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da2f2b7c7fef471b" /><Relationship Type="http://schemas.openxmlformats.org/officeDocument/2006/relationships/notesMaster" Target="/ppt/notesMasters/notesMaster1.xml" Id="Rea4fb96b7fdb43c3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fa840a3925bd4271" /><Relationship Type="http://schemas.openxmlformats.org/officeDocument/2006/relationships/notesMaster" Target="/ppt/notesMasters/notesMaster1.xml" Id="R049c1c0c142e4a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последняя версия Pchelka_Complete.zip, README.md, docs/WHATS_NEW.md, docs/SECURITY.md и исходный код public/. Скриншоты сделаны в локальной демонстрационной сборке на учебном товаре. Образец структуры: Hermes.AI, 39 слайдов; авторы, ключи и пароли из образца не перенесены.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Концепт для РСХБ.цифра · Презентация решения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последняя версия Pchelka_Complete.zip, README.md, docs/WHATS_NEW.md, docs/SECURITY.md и исходный код public/. Скриншоты сделаны в локальной демонстрационной сборке на учебном товаре. Образец структуры: Hermes.AI, 39 слайдов; авторы, ключи и пароли из образца не перенесены.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Это состав ролей для пилота. Участники команды и заказчик внедрения пока не указаны.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последняя версия Pchelka_Complete.zip, README.md, docs/WHATS_NEW.md, docs/SECURITY.md и исходный код public/. Скриншоты сделаны в локальной демонстрационной сборке на учебном товаре. Образец структуры: Hermes.AI, 39 слайдов; авторы, ключи и пароли из образца не перенесены.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Рабочий прототип без платных ключей ИИ. Публикацию на внешней площадке завершает продавец.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последняя версия Pchelka_Complete.zip, README.md, docs/WHATS_NEW.md, docs/SECURITY.md и исходный код public/. Скриншоты сделаны в локальной демонстрационной сборке на учебном товаре. Образец структуры: Hermes.AI, 39 слайдов; авторы, ключи и пароли из образца не перенесены.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Сегменты — гипотеза для пилота. Интервью и количественная проверка спроса ещё нужны.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последняя версия Pchelka_Complete.zip, README.md, docs/WHATS_NEW.md, docs/SECURITY.md и исходный код public/. Скриншоты сделаны в локальной демонстрационной сборке на учебном товаре. Образец структуры: Hermes.AI, 39 слайдов; авторы, ключи и пароли из образца не перенесены.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Проблемы сформулированы как продуктовые гипотезы; исследование продавцов не проводилось.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последняя версия Pchelka_Complete.zip, README.md, docs/WHATS_NEW.md, docs/SECURITY.md и исходный код public/. Скриншоты сделаны в локальной демонстрационной сборке на учебном товаре. Образец структуры: Hermes.AI, 39 слайдов; авторы, ключи и пароли из образца не перенесены.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Состав, производитель и срок годности не определяются по внешнему виду товара.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последняя версия Pchelka_Complete.zip, README.md, docs/WHATS_NEW.md, docs/SECURITY.md и исходный код public/. Скриншоты сделаны в локальной демонстрационной сборке на учебном товаре. Образец структуры: Hermes.AI, 39 слайдов; авторы, ключи и пароли из образца не перенесены.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Время ещё не измерено на группе продавцов. Это проверяемая цель, а не обещание или SLA.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последняя версия Pchelka_Complete.zip, README.md, docs/WHATS_NEW.md, docs/SECURITY.md и исходный код public/. Скриншоты сделаны в локальной демонстрационной сборке на учебном товаре. Образец структуры: Hermes.AI, 39 слайдов; авторы, ключи и пароли из образца не перенесены.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Можно вернуться на предыдущий шаг. Правки сбрасывают итоговое подтверждение.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последняя версия Pchelka_Complete.zip, README.md, docs/WHATS_NEW.md, docs/SECURITY.md и исходный код public/. Скриншоты сделаны в локальной демонстрационной сборке на учебном товаре. Образец структуры: Hermes.AI, 39 слайдов; авторы, ключи и пароли из образца не перенесены.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Покрытие категорий и требований нужно расширять и проверять с отраслевыми специалистами.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последняя версия Pchelka_Complete.zip, README.md, docs/WHATS_NEW.md, docs/SECURITY.md и исходный код public/. Скриншоты сделаны в локальной демонстрационной сборке на учебном товаре. Образец структуры: Hermes.AI, 39 слайдов; авторы, ключи и пароли из образца не перенесены.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Текущий процесс — модель для сравнения в пилоте, без заявленного измеренного времени.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последняя версия Pchelka_Complete.zip, README.md, docs/WHATS_NEW.md, docs/SECURITY.md и исходный код public/. Скриншоты сделаны в локальной демонстрационной сборке на учебном товаре. Образец структуры: Hermes.AI, 39 слайдов; авторы, ключи и пароли из образца не перенесены.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Приложение показывает недостающие сведения конкретными пунктами, а не общей оценкой «плохо».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последняя версия Pchelka_Complete.zip, README.md, docs/WHATS_NEW.md, docs/SECURITY.md и исходный код public/. Скриншоты сделаны в локальной демонстрационной сборке на учебном товаре. Образец структуры: Hermes.AI, 39 слайдов; авторы, ключи и пароли из образца не перенесены.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Если источник не найден, поле остаётся пустым. Пользователь вводит сведения сам.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последняя версия Pchelka_Complete.zip, README.md, docs/WHATS_NEW.md, docs/SECURITY.md и исходный код public/. Скриншоты сделаны в локальной демонстрационной сборке на учебном товаре. Образец структуры: Hermes.AI, 39 слайдов; авторы, ключи и пароли из образца не перенесены.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План измерения: одинаковые товары, одинаковые задания, отдельно первый и повторный запуск.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последняя версия Pchelka_Complete.zip, README.md, docs/WHATS_NEW.md, docs/SECURITY.md и исходный код public/. Скриншоты сделаны в локальной демонстрационной сборке на учебном товаре. Образец структуры: Hermes.AI, 39 слайдов; авторы, ключи и пароли из образца не перенесены.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сервер уходит поисковый запрос: название или штрихкод. Фотографии, звук и контекст генерации туда не отправляются.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последняя версия Pchelka_Complete.zip, README.md, docs/WHATS_NEW.md, docs/SECURITY.md и исходный код public/. Скриншоты сделаны в локальной демонстрационной сборке на учебном товаре. Образец структуры: Hermes.AI, 39 слайдов; авторы, ключи и пароли из образца не перенесены.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экране — учебный пример с вручную заполненными сведениями.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последняя версия Pchelka_Complete.zip, README.md, docs/WHATS_NEW.md, docs/SECURITY.md и исходный код public/. Скриншоты сделаны в локальной демонстрационной сборке на учебном товаре. Образец структуры: Hermes.AI, 39 слайдов; авторы, ключи и пароли из образца не перенесены.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Модель: https://github.com/apple-aiml-research/ml-mobileclip . Реализация проекта использует ONNX Runtime Web.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Классификация по изображению — без OCR. Точный состав определяется по проверенному источнику или вводится продавцом.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последняя версия Pchelka_Complete.zip, README.md, docs/WHATS_NEW.md, docs/SECURITY.md и исходный код public/. Скриншоты сделаны в локальной демонстрационной сборке на учебном товаре. Образец структуры: Hermes.AI, 39 слайдов; авторы, ключи и пароли из образца не перенесены.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WebLLM: https://webllm.mlc.ai/docs/user/basic_usage.html . Первая загрузка весов около 300 МБ; требуется совместимый GPU.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Нужен WebGPU. Полный запуск генерации на GPU в этой проверке недоступен; ручной редактор и шаблон остаются доступны.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последняя версия Pchelka_Complete.zip, README.md, docs/WHATS_NEW.md, docs/SECURITY.md и исходный код public/. Скриншоты сделаны в локальной демонстрационной сборке на учебном товаре. Образец структуры: Hermes.AI, 39 слайдов; авторы, ключи и пароли из образца не перенесены.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Модель vosk-model-small-ru-0.22 (~45 МБ), включена в архив. Источник: https://alphacephei.com/vosk/models . Аудиофайл до 60 секунд и 15 МБ; HTTPS или localhost.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Проверено на синтетическом русском WAV. Микрофон конкретного устройства требует отдельной проверки.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последняя версия Pchelka_Complete.zip, README.md, docs/WHATS_NEW.md, docs/SECURITY.md и исходный код public/. Скриншоты сделаны в локальной демонстрационной сборке на учебном товаре. Образец структуры: Hermes.AI, 39 слайдов; авторы, ключи и пароли из образца не перенесены.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100% не означает одобрение площадкой. Предпроверка не проверяет сертификаты и все требования торговли.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последняя версия Pchelka_Complete.zip, README.md, docs/WHATS_NEW.md, docs/SECURITY.md и исходный код public/. Скриншоты сделаны в локальной демонстрационной сборке на учебном товаре. Образец структуры: Hermes.AI, 39 слайдов; авторы, ключи и пароли из образца не перенесены.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Данные браузера не зашифрованы приложением. Лимит 15 карточек локальный и может быть сброшен.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последняя версия Pchelka_Complete.zip, README.md, docs/WHATS_NEW.md, docs/SECURITY.md и исходный код public/. Скриншоты сделаны в локальной демонстрационной сборке на учебном товаре. Образец структуры: Hermes.AI, 39 слайдов; авторы, ключи и пароли из образца не перенесены.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Реальный экран последней версии. Платные ключи ИИ и файл .env для локального запуска не требуются.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последняя версия Pchelka_Complete.zip, README.md, docs/WHATS_NEW.md, docs/SECURITY.md и исходный код public/. Скриншоты сделаны в локальной демонстрационной сборке на учебном товаре. Образец структуры: Hermes.AI, 39 слайдов; авторы, ключи и пароли из образца не перенесены.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Профиль категории — часть приложения. Масштабирование не означает автоматическое знание всех товаров.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последняя версия Pchelka_Complete.zip, README.md, docs/WHATS_NEW.md, docs/SECURITY.md и исходный код public/. Скриншоты сделаны в локальной демонстрационной сборке на учебном товаре. Образец структуры: Hermes.AI, 39 слайдов; авторы, ключи и пароли из образца не перенесены.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Предлагаемый план; сроки, бюджет и участники согласуются после выбора площадки пилота.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последняя версия Pchelka_Complete.zip, README.md, docs/WHATS_NEW.md, docs/SECURITY.md и исходный код public/. Скриншоты сделаны в локальной демонстрационной сборке на учебном товаре. Образец структуры: Hermes.AI, 39 слайдов; авторы, ключи и пароли из образца не перенесены.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Первый запуск дольше повторного: речевая модель уже в архиве, веса генератора загружаются отдельно.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последняя версия Pchelka_Complete.zip, README.md, docs/WHATS_NEW.md, docs/SECURITY.md и исходный код public/. Скриншоты сделаны в локальной демонстрационной сборке на учебном товаре. Образец структуры: Hermes.AI, 39 слайдов; авторы, ключи и пароли из образца не перенесены.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https://github.com/apple-aiml-research/ml-mobileclip</a:t>
            </a:r>
          </a:p>
          <a:p xmlns:a="http://schemas.openxmlformats.org/drawingml/2006/main">
            <a:r>
              <a:t>https://webllm.mlc.ai/docs/user/basic_usage.html</a:t>
            </a:r>
          </a:p>
          <a:p xmlns:a="http://schemas.openxmlformats.org/drawingml/2006/main">
            <a:r>
              <a:t>https://alphacephei.com/vosk/models</a:t>
            </a:r>
          </a:p>
          <a:p xmlns:a="http://schemas.openxmlformats.org/drawingml/2006/main">
            <a:r>
              <a:t>https://openfoodfacts.github.io/openfoodfacts-server/api/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MobileCLIP: github.com/apple-aiml-research/ml-mobileclip · WebLLM: webllm.mlc.ai/docs</a:t>
            </a:r>
          </a:p>
          <a:p xmlns:a="http://schemas.openxmlformats.org/drawingml/2006/main">
            <a:r>
              <a:t>Vosk: alphacephei.com/vosk/models · OFF: openfoodfacts.github.io/openfoodfacts-server/api/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последняя версия Pchelka_Complete.zip, README.md, docs/WHATS_NEW.md, docs/SECURITY.md и исходный код public/. Скриншоты сделаны в локальной демонстрационной сборке на учебном товаре. Образец структуры: Hermes.AI, 39 слайдов; авторы, ключи и пароли из образца не перенесены.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Сравниваются способы работы, а не конкретные конкуренты. Возможности отдельных сервисов могут отличаться.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последняя версия Pchelka_Complete.zip, README.md, docs/WHATS_NEW.md, docs/SECURITY.md и исходный код public/. Скриншоты сделаны в локальной демонстрационной сборке на учебном товаре. Образец структуры: Hermes.AI, 39 слайдов; авторы, ключи и пароли из образца не перенесены.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Пчёлка связывает эти действия в один сценарий и оставляет окончательное решение человеку.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последняя версия Pchelka_Complete.zip, README.md, docs/WHATS_NEW.md, docs/SECURITY.md и исходный код public/. Скриншоты сделаны в локальной демонстрационной сборке на учебном товаре. Образец структуры: Hermes.AI, 39 слайдов; авторы, ключи и пароли из образца не перенесены.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последняя версия Pchelka_Complete.zip, README.md, docs/WHATS_NEW.md, docs/SECURITY.md и исходный код public/. Скриншоты сделаны в локальной демонстрационной сборке на учебном товаре. Образец структуры: Hermes.AI, 39 слайдов; авторы, ключи и пароли из образца не перенесены.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Контроль текста снижает риск, но не гарантирует отсутствия всех ошибок генерации.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последняя версия Pchelka_Complete.zip, README.md, docs/WHATS_NEW.md, docs/SECURITY.md и исходный код public/. Скриншоты сделаны в локальной демонстрационной сборке на учебном товаре. Образец структуры: Hermes.AI, 39 слайдов; авторы, ключи и пароли из образца не перенесены.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Базовый сценарий для замера. Время и частота ошибок пока неизвестны.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последняя версия Pchelka_Complete.zip, README.md, docs/WHATS_NEW.md, docs/SECURITY.md и исходный код public/. Скриншоты сделаны в локальной демонстрационной сборке на учебном товаре. Образец структуры: Hermes.AI, 39 слайдов; авторы, ключи и пароли из образца не перенесены.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Цель повторного сценария — 3 минуты. Отдельная публикация на внешней площадке в это время не включена.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последняя версия Pchelka_Complete.zip, README.md, docs/WHATS_NEW.md, docs/SECURITY.md и исходный код public/. Скриншоты сделаны в локальной демонстрационной сборке на учебном товаре. Образец структуры: Hermes.AI, 39 слайдов; авторы, ключи и пароли из образца не перенесены.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Экспорт не содержит корзины и приёма оплаты. Совместимость с конкретной CMS проверяется отдельно.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последняя версия Pchelka_Complete.zip, README.md, docs/WHATS_NEW.md, docs/SECURITY.md и исходный код public/. Скриншоты сделаны в локальной демонстрационной сборке на учебном товаре. Образец структуры: Hermes.AI, 39 слайдов; авторы, ключи и пароли из образца не перенесены.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Туториал объясняет действия. В загрузке доступны фотографии и учебный пример; подсказки размещены рядом с шагами.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последняя версия Pchelka_Complete.zip, README.md, docs/WHATS_NEW.md, docs/SECURITY.md и исходный код public/. Скриншоты сделаны в локальной демонстрационной сборке на учебном товаре. Образец структуры: Hermes.AI, 39 слайдов; авторы, ключи и пароли из образца не перенесены.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Каталог хранится в IndexedDB этого браузера. Изменение статуса внутри Пчёлки не снимает объявление на площадке.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последняя версия Pchelka_Complete.zip, README.md, docs/WHATS_NEW.md, docs/SECURITY.md и исходный код public/. Скриншоты сделаны в локальной демонстрационной сборке на учебном товаре. Образец структуры: Hermes.AI, 39 слайдов; авторы, ключи и пароли из образца не перенесены.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Компромисс прототипа: проще запуск и меньше серверной обработки, но выше требования к браузеру.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последняя версия Pchelka_Complete.zip, README.md, docs/WHATS_NEW.md, docs/SECURITY.md и исходный код public/. Скриншоты сделаны в локальной демонстрационной сборке на учебном товаре. Образец структуры: Hermes.AI, 39 слайдов; авторы, ключи и пароли из образца не перенесены.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OAuth, автопубликация, получение статуса модерации и синхронизация цены сейчас не реализованы.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последняя версия Pchelka_Complete.zip, README.md, docs/WHATS_NEW.md, docs/SECURITY.md и исходный код public/. Скриншоты сделаны в локальной демонстрационной сборке на учебном товаре. Образец структуры: Hermes.AI, 39 слайдов; авторы, ключи и пароли из образца не перенесены.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Технические тесты не доказывают коммерческий эффект и не заменяют испытания безопасности.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последняя версия Pchelka_Complete.zip, README.md, docs/WHATS_NEW.md, docs/SECURITY.md и исходный код public/. Скриншоты сделаны в локальной демонстрационной сборке на учебном товаре. Образец структуры: Hermes.AI, 39 слайдов; авторы, ключи и пароли из образца не перенесены.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Локальный запуск: Python 3 → start.bat → localhost:8000. Без .env и платного ключа. Docker — дополнительный вариант.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последняя версия Pchelka_Complete.zip, README.md, docs/WHATS_NEW.md, docs/SECURITY.md и исходный код public/. Скриншоты сделаны в локальной демонстрационной сборке на учебном товаре. Образец структуры: Hermes.AI, 39 слайдов; авторы, ключи и пароли из образца не перенесены.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Концепт для РСХБ.цифра · Рабочий прототип</a:t>
            </a:r>
          </a:p>
          <a:p xmlns:a="http://schemas.openxmlformats.org/drawingml/2006/main">
            <a:r>
              <a:t>Демо требует входа в аккаунт владельца ChatGPT.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78a665e1a14f0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4957c10bd84a9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4ea86b1e8d443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2b919d87a54e3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f1841a50e74b4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c5d669c9f448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CD7F431-9A7E-492D-85DC-C154C2F45F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3657764-CC58-4719-83C7-9911E9D8110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2D2D3C5-B94F-4B9E-9E3D-93F57155D2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55A2642-B8F2-43B9-B29A-568F53D5A3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B2CF052-5CC0-4205-B5B4-E0408D5810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31E15E0-B31C-41C3-81B7-531A47E5BF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62DF37E-B875-459E-985E-3CC534CC20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F942241-A4EB-4388-88B7-A3A68F006AD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D9FD1B-8DE3-4BCD-9E74-DB5B9DB3AD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73E723A-9817-42E2-80C8-5B209404FC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2a2e4089f34a38" /><Relationship Type="http://schemas.openxmlformats.org/officeDocument/2006/relationships/slideLayout" Target="/ppt/slideLayouts/slideLayout1.xml" Id="R8b3979a734dd4d0e" /><Relationship Type="http://schemas.openxmlformats.org/officeDocument/2006/relationships/slideLayout" Target="/ppt/slideLayouts/slideLayout2.xml" Id="R0262b4b3ad014f34" /><Relationship Type="http://schemas.openxmlformats.org/officeDocument/2006/relationships/slideLayout" Target="/ppt/slideLayouts/slideLayout3.xml" Id="Rae2d24c807274ed9" /><Relationship Type="http://schemas.openxmlformats.org/officeDocument/2006/relationships/slideLayout" Target="/ppt/slideLayouts/slideLayout4.xml" Id="Rc601fb7a867e46d9" /><Relationship Type="http://schemas.openxmlformats.org/officeDocument/2006/relationships/slideLayout" Target="/ppt/slideLayouts/slideLayout5.xml" Id="R70b6ea4d1c704f99" /><Relationship Type="http://schemas.openxmlformats.org/officeDocument/2006/relationships/slideLayout" Target="/ppt/slideLayouts/slideLayout6.xml" Id="Ra3b141ef016b48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3979a734dd4d0e"/>
    <p:sldLayoutId xmlns:r="http://schemas.openxmlformats.org/officeDocument/2006/relationships" id="2147483650" r:id="R0262b4b3ad014f34"/>
    <p:sldLayoutId xmlns:r="http://schemas.openxmlformats.org/officeDocument/2006/relationships" id="2147483651" r:id="Rae2d24c807274ed9"/>
    <p:sldLayoutId xmlns:r="http://schemas.openxmlformats.org/officeDocument/2006/relationships" id="2147483652" r:id="Rc601fb7a867e46d9"/>
    <p:sldLayoutId xmlns:r="http://schemas.openxmlformats.org/officeDocument/2006/relationships" id="2147483653" r:id="R70b6ea4d1c704f99"/>
    <p:sldLayoutId xmlns:r="http://schemas.openxmlformats.org/officeDocument/2006/relationships" id="2147483654" r:id="Ra3b141ef016b48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7b45832d744a84" /><Relationship Type="http://schemas.openxmlformats.org/officeDocument/2006/relationships/image" Target="/ppt/media/image.png" Id="R573ea21dd5794052" /><Relationship Type="http://schemas.openxmlformats.org/officeDocument/2006/relationships/image" Target="/ppt/media/image.svg" Id="R04894b813c8347cc" /><Relationship Type="http://schemas.openxmlformats.org/officeDocument/2006/relationships/notesSlide" Target="/ppt/notesSlides/notesSlide1.xml" Id="Rff88d85d884748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62225c98a04702" /><Relationship Type="http://schemas.openxmlformats.org/officeDocument/2006/relationships/notesSlide" Target="/ppt/notesSlides/notesSlide2.xml" Id="Ra8abd78513e24f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a6443f1ba44c63" /><Relationship Type="http://schemas.openxmlformats.org/officeDocument/2006/relationships/notesSlide" Target="/ppt/notesSlides/notesSlide3.xml" Id="Rc1d18d093b5a4a4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62fb4ecb084528" /><Relationship Type="http://schemas.openxmlformats.org/officeDocument/2006/relationships/notesSlide" Target="/ppt/notesSlides/notesSlide4.xml" Id="R974812ceacf140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66ede858c14675" /><Relationship Type="http://schemas.openxmlformats.org/officeDocument/2006/relationships/notesSlide" Target="/ppt/notesSlides/notesSlide5.xml" Id="R1eb94c1aee2b46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b462e0246c48e5" /><Relationship Type="http://schemas.openxmlformats.org/officeDocument/2006/relationships/notesSlide" Target="/ppt/notesSlides/notesSlide6.xml" Id="Rfc03d7feacd148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49e627eedc4ac9" /><Relationship Type="http://schemas.openxmlformats.org/officeDocument/2006/relationships/notesSlide" Target="/ppt/notesSlides/notesSlide7.xml" Id="Ra6bebff240ea4db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d4e9ee4bae469a" /><Relationship Type="http://schemas.openxmlformats.org/officeDocument/2006/relationships/notesSlide" Target="/ppt/notesSlides/notesSlide8.xml" Id="Rfc28d18b7bd2423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daf0f6ea5e4e32" /><Relationship Type="http://schemas.openxmlformats.org/officeDocument/2006/relationships/notesSlide" Target="/ppt/notesSlides/notesSlide9.xml" Id="Rdab074afaec24b7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23f44c526a45c2" /><Relationship Type="http://schemas.openxmlformats.org/officeDocument/2006/relationships/notesSlide" Target="/ppt/notesSlides/notesSlide10.xml" Id="R48072f5eb817458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88f0fe2f9d49cb" /><Relationship Type="http://schemas.openxmlformats.org/officeDocument/2006/relationships/notesSlide" Target="/ppt/notesSlides/notesSlide11.xml" Id="R039bc0d7cbfd4d5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ac7596ad4341b4" /><Relationship Type="http://schemas.openxmlformats.org/officeDocument/2006/relationships/notesSlide" Target="/ppt/notesSlides/notesSlide12.xml" Id="R2c3028a4c3d84db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1260ac9f0a4d09" /><Relationship Type="http://schemas.openxmlformats.org/officeDocument/2006/relationships/notesSlide" Target="/ppt/notesSlides/notesSlide13.xml" Id="Raaab9e2f32ec409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4033f204b4443f" /><Relationship Type="http://schemas.openxmlformats.org/officeDocument/2006/relationships/notesSlide" Target="/ppt/notesSlides/notesSlide14.xml" Id="R2ffc820e32c94bf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fe3cc4355d482a" /><Relationship Type="http://schemas.openxmlformats.org/officeDocument/2006/relationships/image" Target="/ppt/media/image.jpeg" Id="R1b541031fbd2444e" /><Relationship Type="http://schemas.openxmlformats.org/officeDocument/2006/relationships/notesSlide" Target="/ppt/notesSlides/notesSlide15.xml" Id="Rf990afa5d22441f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704d81a92c4960" /><Relationship Type="http://schemas.openxmlformats.org/officeDocument/2006/relationships/image" Target="/ppt/media/image2.jpeg" Id="Re28c9e6b12ad46ff" /><Relationship Type="http://schemas.openxmlformats.org/officeDocument/2006/relationships/notesSlide" Target="/ppt/notesSlides/notesSlide16.xml" Id="R960b60d528a8428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dfa5b896574eb3" /><Relationship Type="http://schemas.openxmlformats.org/officeDocument/2006/relationships/image" Target="/ppt/media/image3.jpeg" Id="Rc08daadb90bc4abc" /><Relationship Type="http://schemas.openxmlformats.org/officeDocument/2006/relationships/notesSlide" Target="/ppt/notesSlides/notesSlide17.xml" Id="Re28787c986b3409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400423fe134cab" /><Relationship Type="http://schemas.openxmlformats.org/officeDocument/2006/relationships/image" Target="/ppt/media/image4.jpeg" Id="Rf3e59d9b65d949cf" /><Relationship Type="http://schemas.openxmlformats.org/officeDocument/2006/relationships/notesSlide" Target="/ppt/notesSlides/notesSlide18.xml" Id="R110677816fd54df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f3a71e8afb4e84" /><Relationship Type="http://schemas.openxmlformats.org/officeDocument/2006/relationships/image" Target="/ppt/media/image5.jpeg" Id="Rce08bfd56e284b80" /><Relationship Type="http://schemas.openxmlformats.org/officeDocument/2006/relationships/notesSlide" Target="/ppt/notesSlides/notesSlide19.xml" Id="R42de8499413843d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582e9640f6454e" /><Relationship Type="http://schemas.openxmlformats.org/officeDocument/2006/relationships/notesSlide" Target="/ppt/notesSlides/notesSlide20.xml" Id="Rbe93271c8f3547c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834586ff2544c8" /><Relationship Type="http://schemas.openxmlformats.org/officeDocument/2006/relationships/image" Target="/ppt/media/image6.jpeg" Id="R976e3987507248d3" /><Relationship Type="http://schemas.openxmlformats.org/officeDocument/2006/relationships/notesSlide" Target="/ppt/notesSlides/notesSlide21.xml" Id="Rac5b1ed77eef438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16f4a1a4854eb1" /><Relationship Type="http://schemas.openxmlformats.org/officeDocument/2006/relationships/notesSlide" Target="/ppt/notesSlides/notesSlide22.xml" Id="Rad3321c409fb4d3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2896e308f34d52" /><Relationship Type="http://schemas.openxmlformats.org/officeDocument/2006/relationships/notesSlide" Target="/ppt/notesSlides/notesSlide23.xml" Id="R0774fe9cdb45495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43e81ccd65450f" /><Relationship Type="http://schemas.openxmlformats.org/officeDocument/2006/relationships/notesSlide" Target="/ppt/notesSlides/notesSlide24.xml" Id="Rc53f4a8523a1489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ab9713bea844b8" /><Relationship Type="http://schemas.openxmlformats.org/officeDocument/2006/relationships/notesSlide" Target="/ppt/notesSlides/notesSlide25.xml" Id="R34091e555c6e4f3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2ccbd9d0914701" /><Relationship Type="http://schemas.openxmlformats.org/officeDocument/2006/relationships/notesSlide" Target="/ppt/notesSlides/notesSlide26.xml" Id="Rb8369bfe4150419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c0e400939b4c55" /><Relationship Type="http://schemas.openxmlformats.org/officeDocument/2006/relationships/notesSlide" Target="/ppt/notesSlides/notesSlide27.xml" Id="R4643390ab874481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1a95ad374b449a" /><Relationship Type="http://schemas.openxmlformats.org/officeDocument/2006/relationships/notesSlide" Target="/ppt/notesSlides/notesSlide28.xml" Id="R50e7dbc74d9e434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3c180de5f446d9" /><Relationship Type="http://schemas.openxmlformats.org/officeDocument/2006/relationships/notesSlide" Target="/ppt/notesSlides/notesSlide29.xml" Id="R666a0ed58e00497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3cf1d0aa4241a8" /><Relationship Type="http://schemas.openxmlformats.org/officeDocument/2006/relationships/notesSlide" Target="/ppt/notesSlides/notesSlide30.xml" Id="Rac28566cf76243a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0ce98a0dbc462b" /><Relationship Type="http://schemas.openxmlformats.org/officeDocument/2006/relationships/notesSlide" Target="/ppt/notesSlides/notesSlide31.xml" Id="R2f3d67291ea2424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6ba888ea824b1c" /><Relationship Type="http://schemas.openxmlformats.org/officeDocument/2006/relationships/image" Target="/ppt/media/image7.jpeg" Id="Rf1310385f3924401" /><Relationship Type="http://schemas.openxmlformats.org/officeDocument/2006/relationships/notesSlide" Target="/ppt/notesSlides/notesSlide32.xml" Id="R4bc7b1d474a6446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043c9516c74b66" /><Relationship Type="http://schemas.openxmlformats.org/officeDocument/2006/relationships/image" Target="/ppt/media/image8.jpeg" Id="Rfa2406a873f44bdc" /><Relationship Type="http://schemas.openxmlformats.org/officeDocument/2006/relationships/image" Target="/ppt/media/image9.jpeg" Id="R819c8559b9414a52" /><Relationship Type="http://schemas.openxmlformats.org/officeDocument/2006/relationships/notesSlide" Target="/ppt/notesSlides/notesSlide33.xml" Id="R2e4c6d09a3174dbf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a3a2b5ca8e4193" /><Relationship Type="http://schemas.openxmlformats.org/officeDocument/2006/relationships/image" Target="/ppt/media/image10.jpeg" Id="R3b9b23508205412b" /><Relationship Type="http://schemas.openxmlformats.org/officeDocument/2006/relationships/notesSlide" Target="/ppt/notesSlides/notesSlide34.xml" Id="Ra4d6ca816ebe4323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4f95d2f01f4b9b" /><Relationship Type="http://schemas.openxmlformats.org/officeDocument/2006/relationships/notesSlide" Target="/ppt/notesSlides/notesSlide35.xml" Id="R87e35d9f5a704a77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9efc378c6b4ffa" /><Relationship Type="http://schemas.openxmlformats.org/officeDocument/2006/relationships/image" Target="/ppt/media/image11.jpeg" Id="R5355aa3a7cb3480c" /><Relationship Type="http://schemas.openxmlformats.org/officeDocument/2006/relationships/notesSlide" Target="/ppt/notesSlides/notesSlide36.xml" Id="R3a311e75577f4de9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4f33a81c454195" /><Relationship Type="http://schemas.openxmlformats.org/officeDocument/2006/relationships/notesSlide" Target="/ppt/notesSlides/notesSlide37.xml" Id="Rc4e18906c6514aab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b00a3096d545c5" /><Relationship Type="http://schemas.openxmlformats.org/officeDocument/2006/relationships/notesSlide" Target="/ppt/notesSlides/notesSlide38.xml" Id="Re315c27ca140476e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b162b6b44c44ee" /><Relationship Type="http://schemas.openxmlformats.org/officeDocument/2006/relationships/image" Target="/ppt/media/image2.png" Id="R27718e894bd04345" /><Relationship Type="http://schemas.openxmlformats.org/officeDocument/2006/relationships/image" Target="/ppt/media/image2.svg" Id="Rae55327aa62b4f3c" /><Relationship Type="http://schemas.openxmlformats.org/officeDocument/2006/relationships/notesSlide" Target="/ppt/notesSlides/notesSlide39.xml" Id="R7831832a10c84eb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0F8593-C3B7-42C4-A58D-28EF598A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001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B23310A-8009-4EC4-A234-45905352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1476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ПЧЁЛКА  /  ПРОДУКТ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C0AE637C-5ADC-4EE7-8656-F5AFFA87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4000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01 / 39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9FE1E4-36F2-4E63-AD39-D43B690B4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4488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1A3A0C68-79B1-4CFE-8526-FC76AE4D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6393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КОНЦЕПТ ДЛЯ РСХБ.ЦИФРА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939AC361-30AC-4167-9C6F-14DE88E47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9639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ПЧЁЛКА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EE504939-0B64-4372-8F4F-75A6C53D8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66875"/>
            <a:ext cx="9048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5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105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105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105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105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105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105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105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105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105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105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pPr>
            <a:r>
              <a:rPr sz="105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rPr>
              <a:t>Пчёлка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17E07B64-2EF7-4EC5-9E8E-06EED033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76625"/>
            <a:ext cx="10668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6225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6225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6225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6225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6225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6225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6225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6225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6225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6225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6225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pPr>
            <a:r>
              <a:rPr sz="6225" b="0">
                <a:solidFill>
                  <a:srgbClr val="193E31"/>
                </a:solidFill>
                <a:latin typeface="DejaVu Serif"/>
                <a:ea typeface="DejaVu Serif"/>
                <a:cs typeface="DejaVu Serif"/>
              </a:rPr>
              <a:t>Из фотографий —</a:t>
            </a:r>
          </a:p>
          <a:p xmlns:a="http://schemas.openxmlformats.org/drawingml/2006/main">
            <a:pPr algn="l">
              <a:defRPr sz="6225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pPr>
            <a:r>
              <a:rPr sz="6225" b="0">
                <a:solidFill>
                  <a:srgbClr val="193E31"/>
                </a:solidFill>
                <a:latin typeface="DejaVu Serif"/>
                <a:ea typeface="DejaVu Serif"/>
                <a:cs typeface="DejaVu Serif"/>
              </a:rPr>
              <a:t>в карточку товара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1E406497-8BCC-4DFC-B92E-2A4B816F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29375"/>
            <a:ext cx="10191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6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6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6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6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6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6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6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6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6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6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Проверенные сведения. Редактируемый текст.</a:t>
            </a:r>
          </a:p>
          <a:p xmlns:a="http://schemas.openxmlformats.org/drawingml/2006/main">
            <a:pPr algn="l">
              <a:defRPr sz="26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Готовый блок для сайта.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52E79E-F59E-4A16-BC3C-46AA7489B3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3ea21dd5794052">
            <a:extLst>
              <a:ext uri="{96DAC541-7B7A-43D3-8B79-37D633B846F1}">
                <asvg:svgBlip xmlns:asvg="http://schemas.microsoft.com/office/drawing/2016/SVG/main" r:embed="R04894b813c8347c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715750" y="2571750"/>
            <a:ext cx="5524500" cy="5143500"/>
          </a:xfrm>
          <a:prstGeom xmlns:a="http://schemas.openxmlformats.org/drawingml/2006/main" prst="rect">
            <a:avLst/>
          </a:prstGeom>
        </p:spPr>
      </p:pic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35B5B43D-BB29-40D6-9BAD-2E5F3C3A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172450"/>
            <a:ext cx="1476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657568"/>
                </a:solidFill>
                <a:latin typeface="DejaVu Sans"/>
                <a:ea typeface="DejaVu Sans"/>
                <a:cs typeface="DejaVu Sans"/>
              </a:rPr>
              <a:t>Концепт для РСХБ.цифра · Презентация решения</a:t>
            </a:r>
          </a:p>
        </p:txBody>
      </p:sp>
    </p:spTree>
    <p:extLst>
      <p:ext uri="{BB962C8B-B14F-4D97-AF65-F5344CB8AC3E}">
        <p14:creationId xmlns:p14="http://schemas.microsoft.com/office/powerpoint/2010/main" val="16695580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F6A7F6-8A44-4514-8CA7-3E3F50A8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001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1742F9C-CBBF-4E97-9BFD-03DEDF87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1476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ПЧЁЛКА  /  КОМАНДА И КОНТЕКСТ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8605F33C-A13C-4F4D-9C9C-3DE80063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4000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02 / 39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61E454-ED11-4C33-A527-1DDC3608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4488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8B2EEDA3-3038-4BE2-A507-837E7E16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6393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КОНЦЕПТ ДЛЯ РСХБ.ЦИФРА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03131D96-CDB7-47B0-99D2-31E3967D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9639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ПЧЁЛКА</a:t>
            </a:r>
          </a:p>
        </p:txBody>
      </p:sp>
      <p:sp>
        <p:nvSpPr>
          <p:cNvPr id="7" name="heading">
            <a:extLst xmlns:a="http://schemas.openxmlformats.org/drawingml/2006/main">
              <a:ext uri="{FF2B5EF4-FFF2-40B4-BE49-F238E27FC236}">
                <a16:creationId xmlns:a16="http://schemas.microsoft.com/office/drawing/2014/main" id="{E4C48773-0F99-4843-B30E-8DCCE1C5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00150"/>
            <a:ext cx="166116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pPr>
            <a:r>
              <a: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rPr>
              <a:t>Какие роли нужны для пилота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D1846B68-0FEC-4F8C-873E-BC0809CF6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24900"/>
            <a:ext cx="16611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rPr>
              <a:t>Это состав ролей для пилота. Участники команды и заказчик внедрения пока не указаны.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4CA2C13D-A88B-458C-A768-A75E9AD7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16478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Для запуска нужны три зоны ответственности.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D821B6-6092-4F1C-8CE2-9C71BC2D0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5092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CCE4D491-A34B-465C-97D4-E418BE25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43450"/>
            <a:ext cx="5092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Продукт и отрасль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7F2B138D-FF63-4105-B501-0D3EE8BD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67350"/>
            <a:ext cx="50927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Выбрать категории товаров. Определить обязательные поля. Собрать обратную связь продавцов.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9752AA-10BF-4593-A923-0835BBB6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7650" y="4476750"/>
            <a:ext cx="5092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DFBB8FC3-687C-4DF5-ACF7-C1165EF7E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7650" y="4743450"/>
            <a:ext cx="5092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Дизайн и разработка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73E76D06-E72D-4C4C-8330-C055998E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7650" y="5467350"/>
            <a:ext cx="50927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Проверить понятность шагов. Поддерживать локальные модели, экспорт и совместимость браузеров.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3BA684-1926-426C-A7C9-A3EC98C10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7100" y="4476750"/>
            <a:ext cx="5092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ody">
            <a:extLst xmlns:a="http://schemas.openxmlformats.org/drawingml/2006/main">
              <a:ext uri="{FF2B5EF4-FFF2-40B4-BE49-F238E27FC236}">
                <a16:creationId xmlns:a16="http://schemas.microsoft.com/office/drawing/2014/main" id="{751CF1B6-9C1D-4D23-82B2-F6B9BA55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7100" y="4743450"/>
            <a:ext cx="5092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Безопасность и внедрение</a:t>
            </a:r>
          </a:p>
        </p:txBody>
      </p:sp>
      <p:sp>
        <p:nvSpPr>
          <p:cNvPr id="18" name="body">
            <a:extLst xmlns:a="http://schemas.openxmlformats.org/drawingml/2006/main">
              <a:ext uri="{FF2B5EF4-FFF2-40B4-BE49-F238E27FC236}">
                <a16:creationId xmlns:a16="http://schemas.microsoft.com/office/drawing/2014/main" id="{ECDEEE97-B31C-4B99-9425-0156B54A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7100" y="5467350"/>
            <a:ext cx="50927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Проверить обработку данных, требования площадки и условия размещения сервиса.</a:t>
            </a:r>
          </a:p>
        </p:txBody>
      </p:sp>
    </p:spTree>
    <p:extLst>
      <p:ext uri="{BB962C8B-B14F-4D97-AF65-F5344CB8AC3E}">
        <p14:creationId xmlns:p14="http://schemas.microsoft.com/office/powerpoint/2010/main" val="4027573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5CB5D8-8BEB-4D98-B1C7-539F5C36C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001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D779ED8-6A53-457A-9FFB-681E927B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1476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ПЧЁЛКА  /  ПРОДУКТ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6A8AB9F8-4524-4623-B1D2-8995AEC1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4000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03 / 39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3CE491-901D-4601-8D5D-C5BB301D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4488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79422327-D5C3-4FAE-83F1-2011A471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6393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КОНЦЕПТ ДЛЯ РСХБ.ЦИФРА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80AA9CEE-5059-47DE-B237-28F304B0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9639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ПЧЁЛКА</a:t>
            </a:r>
          </a:p>
        </p:txBody>
      </p:sp>
      <p:sp>
        <p:nvSpPr>
          <p:cNvPr id="7" name="heading">
            <a:extLst xmlns:a="http://schemas.openxmlformats.org/drawingml/2006/main">
              <a:ext uri="{FF2B5EF4-FFF2-40B4-BE49-F238E27FC236}">
                <a16:creationId xmlns:a16="http://schemas.microsoft.com/office/drawing/2014/main" id="{B61553B8-094F-4B71-B5F6-B3BFA8F2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00150"/>
            <a:ext cx="166116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pPr>
            <a:r>
              <a: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rPr>
              <a:t>Один товар — один понятный путь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51777EDC-100D-43D1-954C-26DB4F329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24900"/>
            <a:ext cx="16611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rPr>
              <a:t>Рабочий прототип без платных ключей ИИ. Публикацию на внешней площадке завершает продавец.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7458EB2F-210B-4BA8-9CA2-4106D657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16478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Продавец загружает фотографии, подтверждает сведения и получает карточку для своего сайта.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0A6013-9007-409C-AE1B-01D67677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5092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0B539733-EDD6-40EC-8EED-FC476E83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43450"/>
            <a:ext cx="5092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Вход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84109DD3-85C8-4503-9F92-032B4184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67350"/>
            <a:ext cx="50927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Фотографии, штрихкод, голос или короткое описание товара.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4E85FF-0C76-4BFF-A4E8-1EDB4657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7650" y="4476750"/>
            <a:ext cx="5092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7B4902E2-3EA8-42AD-AC7E-EA252FC9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7650" y="4743450"/>
            <a:ext cx="5092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Обработка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F7865B3F-70C1-45EC-83D1-BC6C6A6A9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7650" y="5467350"/>
            <a:ext cx="50927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Подсказка категории, поиск совпадений, проверка полей и помощь с текстом.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6380BA-9BD4-461B-93B8-7ACDDC46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7100" y="4476750"/>
            <a:ext cx="5092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ody">
            <a:extLst xmlns:a="http://schemas.openxmlformats.org/drawingml/2006/main">
              <a:ext uri="{FF2B5EF4-FFF2-40B4-BE49-F238E27FC236}">
                <a16:creationId xmlns:a16="http://schemas.microsoft.com/office/drawing/2014/main" id="{B72DB151-840F-41A2-880D-E888E43A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7100" y="4743450"/>
            <a:ext cx="5092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Результат</a:t>
            </a:r>
          </a:p>
        </p:txBody>
      </p:sp>
      <p:sp>
        <p:nvSpPr>
          <p:cNvPr id="18" name="body">
            <a:extLst xmlns:a="http://schemas.openxmlformats.org/drawingml/2006/main">
              <a:ext uri="{FF2B5EF4-FFF2-40B4-BE49-F238E27FC236}">
                <a16:creationId xmlns:a16="http://schemas.microsoft.com/office/drawing/2014/main" id="{DB9060C6-F64F-4BBE-B99F-1A624755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7100" y="5467350"/>
            <a:ext cx="50927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HTML-карточка, витрина, материалы для объявлений и сохранённый товар.</a:t>
            </a:r>
          </a:p>
        </p:txBody>
      </p:sp>
    </p:spTree>
    <p:extLst>
      <p:ext uri="{BB962C8B-B14F-4D97-AF65-F5344CB8AC3E}">
        <p14:creationId xmlns:p14="http://schemas.microsoft.com/office/powerpoint/2010/main" val="10422567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5FA4E7-4147-4862-99A8-736046AA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001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6D9B124-E3FC-4FDA-BAF6-FC30EE4C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1476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ПЧЁЛКА  /  ПОЛЬЗОВАТЕЛЬ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7DA6952D-123E-4E88-A573-B9E59A8F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4000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04 / 39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B16E82-7F5C-474D-A89C-8A40D987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4488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114F9EF7-158F-42E9-903D-4BE09448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6393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КОНЦЕПТ ДЛЯ РСХБ.ЦИФРА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A00F344E-BE8C-4218-854F-76BEEEBB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9639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ПЧЁЛКА</a:t>
            </a:r>
          </a:p>
        </p:txBody>
      </p:sp>
      <p:sp>
        <p:nvSpPr>
          <p:cNvPr id="7" name="heading">
            <a:extLst xmlns:a="http://schemas.openxmlformats.org/drawingml/2006/main">
              <a:ext uri="{FF2B5EF4-FFF2-40B4-BE49-F238E27FC236}">
                <a16:creationId xmlns:a16="http://schemas.microsoft.com/office/drawing/2014/main" id="{B26EB0F7-988F-4F10-B6A5-5DF0C360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00150"/>
            <a:ext cx="166116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pPr>
            <a:r>
              <a: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rPr>
              <a:t>Для тех, кто сам продаёт свой товар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EEB07FEB-BBC9-4FB8-BF0F-F8B7658F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24900"/>
            <a:ext cx="16611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rPr>
              <a:t>Сегменты — гипотеза для пилота. Интервью и количественная проверка спроса ещё нужны.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85CAFA16-E8EC-42B9-AFAC-4F1A81A7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16478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Начальная аудитория — небольшие производители и продавцы без отдельного контент-менеджера.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8C8766-1A8A-4483-AC0D-AEA403A3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7972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E4BA2F5A-B298-449B-9170-CB7892FB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43450"/>
            <a:ext cx="79724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Фермер и пасека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EB3C85CD-72DA-43DC-88CB-66B5F60D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67350"/>
            <a:ext cx="7972425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Сфотографировать упаковку. Проверить состав и срок хранения. Быстро подготовить ассортимент.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53660D-C1ED-423B-B9C5-17FE02485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476750"/>
            <a:ext cx="7972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76A1A7A7-4F89-4C7F-B7B7-CC6801F7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743450"/>
            <a:ext cx="79724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Мастерская и местный магазин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EA5D9C5A-AE97-4535-8E56-3B6F410CD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467350"/>
            <a:ext cx="7972425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Описать изделие простыми словами. Сделать несколько вариантов. Перенести готовые материалы в канал продаж.</a:t>
            </a:r>
          </a:p>
        </p:txBody>
      </p:sp>
    </p:spTree>
    <p:extLst>
      <p:ext uri="{BB962C8B-B14F-4D97-AF65-F5344CB8AC3E}">
        <p14:creationId xmlns:p14="http://schemas.microsoft.com/office/powerpoint/2010/main" val="8466911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696D94-4949-4601-9CA8-090CB532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001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C3BE743-270E-4E0E-9F22-1A025A8D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1476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ПЧЁЛКА  /  ПРОБЛЕМА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83A6BF2B-FFF5-4C4B-B011-E8A797EB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4000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05 / 39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843A90-516A-4566-AEBA-0A14EBC35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4488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8157353F-66D2-4ED5-BDCB-D9CC5ED9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6393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КОНЦЕПТ ДЛЯ РСХБ.ЦИФРА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00F349C1-854F-4CCF-8FFB-D36C673F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9639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ПЧЁЛКА</a:t>
            </a:r>
          </a:p>
        </p:txBody>
      </p:sp>
      <p:sp>
        <p:nvSpPr>
          <p:cNvPr id="7" name="heading">
            <a:extLst xmlns:a="http://schemas.openxmlformats.org/drawingml/2006/main">
              <a:ext uri="{FF2B5EF4-FFF2-40B4-BE49-F238E27FC236}">
                <a16:creationId xmlns:a16="http://schemas.microsoft.com/office/drawing/2014/main" id="{720BCA3A-AA5C-4383-8E82-26A6214D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00150"/>
            <a:ext cx="166116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pPr>
            <a:r>
              <a: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rPr>
              <a:t>Товар один. Ручной работы много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A551441E-5421-426A-8BEF-681505B3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24900"/>
            <a:ext cx="16611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rPr>
              <a:t>Проблемы сформулированы как продуктовые гипотезы; исследование продавцов не проводилось.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17C7C7AD-1FD3-4CA8-B14D-321AF3A94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16478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Информация распадается между фотографиями, заметками, сайтом и объявлениями.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81E194-CE59-4303-AC62-A4704487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7972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357F2E1D-5143-4D5E-A2FC-D026E694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43450"/>
            <a:ext cx="79724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Повторный ввод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1ABC2E20-DDB7-49C4-90C1-5BE03373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67350"/>
            <a:ext cx="7972425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Название, цена и характеристики переписываются для каждого канала. Изменения легко пропустить.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3473E5-31C4-4277-A040-D8F9B073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476750"/>
            <a:ext cx="7972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0CCB11EF-393F-468F-8A77-E5FBCD71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743450"/>
            <a:ext cx="79724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Непроверенные сведения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E104585A-656C-482E-90BF-9E52F95E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467350"/>
            <a:ext cx="7972425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Генератор текста может добавить красивое, но неверное свойство. Покупатель получает обещание, которое продавец не подтверждал.</a:t>
            </a:r>
          </a:p>
        </p:txBody>
      </p:sp>
    </p:spTree>
    <p:extLst>
      <p:ext uri="{BB962C8B-B14F-4D97-AF65-F5344CB8AC3E}">
        <p14:creationId xmlns:p14="http://schemas.microsoft.com/office/powerpoint/2010/main" val="21308123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6C67A8-5A02-44BE-866A-6854C922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001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3D461C8-BB92-43CE-B00A-5F061363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1476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ПЧЁЛКА  /  РЕШЕНИЕ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1E57DAAA-C86D-404C-AA34-9F1FFF88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4000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06 / 39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AEDF32-015A-46E3-BD46-D92E6AAE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4488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754F2C0F-3DC9-49C0-B6A7-28AA3EF0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6393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КОНЦЕПТ ДЛЯ РСХБ.ЦИФРА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16F3F5FC-B541-4148-846E-CF57314E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9639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ПЧЁЛКА</a:t>
            </a:r>
          </a:p>
        </p:txBody>
      </p:sp>
      <p:sp>
        <p:nvSpPr>
          <p:cNvPr id="7" name="heading">
            <a:extLst xmlns:a="http://schemas.openxmlformats.org/drawingml/2006/main">
              <a:ext uri="{FF2B5EF4-FFF2-40B4-BE49-F238E27FC236}">
                <a16:creationId xmlns:a16="http://schemas.microsoft.com/office/drawing/2014/main" id="{5DE6BC5F-4825-418C-A85F-9E7C00CCC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00150"/>
            <a:ext cx="166116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pPr>
            <a:r>
              <a: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rPr>
              <a:t>Сначала факты. Потом описание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D109638B-0B62-46D8-A5FE-04FCFD95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24900"/>
            <a:ext cx="16611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rPr>
              <a:t>Состав, производитель и срок годности не определяются по внешнему виду товара.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49120070-AC88-4C6D-941E-9E83406E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16478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Пчёлка помогает собрать карточку и сохраняет контроль за человеком.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25F94A-6FC0-4BE3-A733-0875A33A9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7972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A6C16047-87A3-4FC5-B1E7-32A0BF73C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43450"/>
            <a:ext cx="79724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Что входит в прототип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16FFCFF4-78A7-48C6-B120-184A5734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67350"/>
            <a:ext cx="7972425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Пошаговый мастер, локальные модели, источники сведений, проверка готовности, HTML и пакет материалов.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18A762-1F36-4361-AAE5-B6D54228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476750"/>
            <a:ext cx="7972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CB5D1D1B-DD6F-44A6-93E5-3193F001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743450"/>
            <a:ext cx="79724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Что остаётся за продавцом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BF8F7215-0D93-4FDB-B387-AC2A8A75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467350"/>
            <a:ext cx="7972425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Подтвердить совпадение товара, исправить характеристики, проверить текст и вручную опубликовать объявление.</a:t>
            </a:r>
          </a:p>
        </p:txBody>
      </p:sp>
    </p:spTree>
    <p:extLst>
      <p:ext uri="{BB962C8B-B14F-4D97-AF65-F5344CB8AC3E}">
        <p14:creationId xmlns:p14="http://schemas.microsoft.com/office/powerpoint/2010/main" val="21203003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93E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C6052F-B838-45C1-A100-6EAAAB55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001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2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E583F16-6539-4DF2-94C1-F36D4C29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1476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7F4E9"/>
                </a:solidFill>
                <a:latin typeface="DejaVu Sans"/>
                <a:ea typeface="DejaVu Sans"/>
                <a:cs typeface="DejaVu Sans"/>
              </a:rPr>
              <a:t>ПЧЁЛКА  /  ЦЕЛЬ ПИЛОТА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6D63E728-E155-489E-9B2B-9813EDA0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4000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7F4E9"/>
                </a:solidFill>
                <a:latin typeface="DejaVu Sans"/>
                <a:ea typeface="DejaVu Sans"/>
                <a:cs typeface="DejaVu Sans"/>
              </a:rPr>
              <a:t>07 / 39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B5B547-D25C-44D8-943C-D6CB4FC4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4488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2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692623C8-AFCF-4EE6-B157-4A4C2DF5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6393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7F4E9"/>
                </a:solidFill>
                <a:latin typeface="DejaVu Sans"/>
                <a:ea typeface="DejaVu Sans"/>
                <a:cs typeface="DejaVu Sans"/>
              </a:rPr>
              <a:t>КОНЦЕПТ ДЛЯ РСХБ.ЦИФРА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E0DED0F4-9B8A-4314-8520-8F615964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9639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7F4E9"/>
                </a:solidFill>
                <a:latin typeface="DejaVu Sans"/>
                <a:ea typeface="DejaVu Sans"/>
                <a:cs typeface="DejaVu Sans"/>
              </a:rPr>
              <a:t>ПЧЁЛКА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41D23D45-D0E8-460A-975D-7C2B6221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16287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725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7725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7725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7725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7725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7725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7725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7725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7725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7725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7725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pPr>
            <a:r>
              <a:rPr sz="7725" b="0">
                <a:solidFill>
                  <a:srgbClr val="F7F4E9"/>
                </a:solidFill>
                <a:latin typeface="DejaVu Serif"/>
                <a:ea typeface="DejaVu Serif"/>
                <a:cs typeface="DejaVu Serif"/>
              </a:rPr>
              <a:t>Карточка</a:t>
            </a:r>
          </a:p>
          <a:p xmlns:a="http://schemas.openxmlformats.org/drawingml/2006/main">
            <a:pPr algn="l">
              <a:defRPr sz="7725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pPr>
            <a:r>
              <a:rPr sz="7725" b="0">
                <a:solidFill>
                  <a:srgbClr val="F7F4E9"/>
                </a:solidFill>
                <a:latin typeface="DejaVu Serif"/>
                <a:ea typeface="DejaVu Serif"/>
                <a:cs typeface="DejaVu Serif"/>
              </a:rPr>
              <a:t>за три минуты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48BD0A-8050-4E8C-89BE-EFD21511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524500"/>
            <a:ext cx="1047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BD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3D096386-9013-43BA-9DEC-5A3570F9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153150"/>
            <a:ext cx="15525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22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22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22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22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22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22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22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22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22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22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pPr>
            <a:r>
              <a:rPr sz="3225" b="0">
                <a:solidFill>
                  <a:srgbClr val="F7F4E9"/>
                </a:solidFill>
                <a:latin typeface="DejaVu Sans"/>
                <a:ea typeface="DejaVu Sans"/>
                <a:cs typeface="DejaVu Sans"/>
              </a:rPr>
              <a:t>Цель для повторного сценария:</a:t>
            </a:r>
          </a:p>
          <a:p xmlns:a="http://schemas.openxmlformats.org/drawingml/2006/main">
            <a:pPr algn="l">
              <a:defRPr sz="322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pPr>
            <a:r>
              <a:rPr sz="3225" b="0">
                <a:solidFill>
                  <a:srgbClr val="F7F4E9"/>
                </a:solidFill>
                <a:latin typeface="DejaVu Sans"/>
                <a:ea typeface="DejaVu Sans"/>
                <a:cs typeface="DejaVu Sans"/>
              </a:rPr>
              <a:t>модели уже загружены, сведения о товаре доступны.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AAEF48B6-1970-4A3F-BD2F-889E93553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8201025"/>
            <a:ext cx="1543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E4EAD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0">
                <a:solidFill>
                  <a:srgbClr val="E4EAD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0">
                <a:solidFill>
                  <a:srgbClr val="E4EAD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0">
                <a:solidFill>
                  <a:srgbClr val="E4EAD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0">
                <a:solidFill>
                  <a:srgbClr val="E4EAD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0">
                <a:solidFill>
                  <a:srgbClr val="E4EAD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0">
                <a:solidFill>
                  <a:srgbClr val="E4EAD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0">
                <a:solidFill>
                  <a:srgbClr val="E4EAD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0">
                <a:solidFill>
                  <a:srgbClr val="E4EAD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0">
                <a:solidFill>
                  <a:srgbClr val="E4EAD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E4EAD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E4EAD4"/>
                </a:solidFill>
                <a:latin typeface="DejaVu Sans"/>
                <a:ea typeface="DejaVu Sans"/>
                <a:cs typeface="DejaVu Sans"/>
              </a:rPr>
              <a:t>Время ещё не измерено на группе продавцов. Это проверяемая цель, а не обещание или SLA.</a:t>
            </a:r>
          </a:p>
        </p:txBody>
      </p:sp>
    </p:spTree>
    <p:extLst>
      <p:ext uri="{BB962C8B-B14F-4D97-AF65-F5344CB8AC3E}">
        <p14:creationId xmlns:p14="http://schemas.microsoft.com/office/powerpoint/2010/main" val="10443743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974BB5-FC19-4274-8787-53942E6E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001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695A084-E9B8-4AFF-8956-A27C330B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1476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ПЧЁЛКА  /  ЗАДАЧИ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C5631456-43F3-4F64-9E30-046845F1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4000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08 / 39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641216-8612-4214-A3B4-7D9D9F7F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4488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5D617960-94CC-429E-A7F9-1C9D36C5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6393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КОНЦЕПТ ДЛЯ РСХБ.ЦИФРА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3FD3C7EB-7B40-4FAE-8A0F-3E9B5B66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9639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ПЧЁЛКА</a:t>
            </a:r>
          </a:p>
        </p:txBody>
      </p:sp>
      <p:sp>
        <p:nvSpPr>
          <p:cNvPr id="7" name="heading">
            <a:extLst xmlns:a="http://schemas.openxmlformats.org/drawingml/2006/main">
              <a:ext uri="{FF2B5EF4-FFF2-40B4-BE49-F238E27FC236}">
                <a16:creationId xmlns:a16="http://schemas.microsoft.com/office/drawing/2014/main" id="{F983433B-6EF5-4CBF-BD65-F0DA7DBB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00150"/>
            <a:ext cx="166116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pPr>
            <a:r>
              <a: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rPr>
              <a:t>Четыре шага до готовой карточки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E891F093-30F8-4F2E-AEEB-91DB7319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24900"/>
            <a:ext cx="16611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rPr>
              <a:t>Можно вернуться на предыдущий шаг. Правки сбрасывают итоговое подтверждение.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4687BC5B-BA5D-4748-91D7-567A1553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39147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pPr>
            <a:r>
              <a: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6D4372-122F-40C0-8857-1D562D2A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95875"/>
            <a:ext cx="39147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A4834AF1-3399-415F-A163-C48C443E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95925"/>
            <a:ext cx="39147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pPr>
            <a:r>
              <a: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rPr>
              <a:t>Фото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8F6E98A4-1949-4D5C-AD5B-DE5830A5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00800"/>
            <a:ext cx="39147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Добавить упаковку</a:t>
            </a:r>
          </a:p>
          <a:p xmlns:a="http://schemas.openxmlformats.org/drawingml/2006/main">
            <a: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и главное фото.</a:t>
            </a:r>
          </a:p>
        </p:txBody>
      </p:sp>
      <p:sp>
        <p:nvSpPr>
          <p:cNvPr id="13" name="body">
            <a:extLst xmlns:a="http://schemas.openxmlformats.org/drawingml/2006/main">
              <a:ext uri="{FF2B5EF4-FFF2-40B4-BE49-F238E27FC236}">
                <a16:creationId xmlns:a16="http://schemas.microsoft.com/office/drawing/2014/main" id="{5A7565AC-A251-4E71-B4D5-1151549A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400675"/>
            <a:ext cx="361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→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B39E2CF2-F7A9-46E4-A7CE-93A34BD6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638550"/>
            <a:ext cx="39147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pPr>
            <a:r>
              <a: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F9D2F0-C21B-4C3B-8AB4-E6312DCD2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5095875"/>
            <a:ext cx="39147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ody">
            <a:extLst xmlns:a="http://schemas.openxmlformats.org/drawingml/2006/main">
              <a:ext uri="{FF2B5EF4-FFF2-40B4-BE49-F238E27FC236}">
                <a16:creationId xmlns:a16="http://schemas.microsoft.com/office/drawing/2014/main" id="{E8B153CA-468E-464B-959B-2414A020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5495925"/>
            <a:ext cx="39147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pPr>
            <a:r>
              <a: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rPr>
              <a:t>Данные</a:t>
            </a:r>
          </a:p>
        </p:txBody>
      </p:sp>
      <p:sp>
        <p:nvSpPr>
          <p:cNvPr id="17" name="body">
            <a:extLst xmlns:a="http://schemas.openxmlformats.org/drawingml/2006/main">
              <a:ext uri="{FF2B5EF4-FFF2-40B4-BE49-F238E27FC236}">
                <a16:creationId xmlns:a16="http://schemas.microsoft.com/office/drawing/2014/main" id="{78DE1FA4-F4EC-4212-8CE9-6DDCF7105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6400800"/>
            <a:ext cx="39147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Проверить категорию</a:t>
            </a:r>
          </a:p>
          <a:p xmlns:a="http://schemas.openxmlformats.org/drawingml/2006/main">
            <a: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и характеристики.</a:t>
            </a:r>
          </a:p>
        </p:txBody>
      </p:sp>
      <p:sp>
        <p:nvSpPr>
          <p:cNvPr id="18" name="body">
            <a:extLst xmlns:a="http://schemas.openxmlformats.org/drawingml/2006/main">
              <a:ext uri="{FF2B5EF4-FFF2-40B4-BE49-F238E27FC236}">
                <a16:creationId xmlns:a16="http://schemas.microsoft.com/office/drawing/2014/main" id="{EE8C0618-FE34-40EE-A366-DAA22242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400675"/>
            <a:ext cx="361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→</a:t>
            </a:r>
          </a:p>
        </p:txBody>
      </p:sp>
      <p:sp>
        <p:nvSpPr>
          <p:cNvPr id="19" name="body">
            <a:extLst xmlns:a="http://schemas.openxmlformats.org/drawingml/2006/main">
              <a:ext uri="{FF2B5EF4-FFF2-40B4-BE49-F238E27FC236}">
                <a16:creationId xmlns:a16="http://schemas.microsoft.com/office/drawing/2014/main" id="{E8FFF061-BB21-4ED0-A338-DFAAE1FDB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638550"/>
            <a:ext cx="39147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pPr>
            <a:r>
              <a: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198806-57B0-4BAD-8C5E-75CD6E72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095875"/>
            <a:ext cx="39147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ody">
            <a:extLst xmlns:a="http://schemas.openxmlformats.org/drawingml/2006/main">
              <a:ext uri="{FF2B5EF4-FFF2-40B4-BE49-F238E27FC236}">
                <a16:creationId xmlns:a16="http://schemas.microsoft.com/office/drawing/2014/main" id="{3C9EF49D-FA3F-46CF-9E14-68C2FE2F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495925"/>
            <a:ext cx="39147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pPr>
            <a:r>
              <a: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rPr>
              <a:t>Текст и вид</a:t>
            </a:r>
          </a:p>
        </p:txBody>
      </p:sp>
      <p:sp>
        <p:nvSpPr>
          <p:cNvPr id="22" name="body">
            <a:extLst xmlns:a="http://schemas.openxmlformats.org/drawingml/2006/main">
              <a:ext uri="{FF2B5EF4-FFF2-40B4-BE49-F238E27FC236}">
                <a16:creationId xmlns:a16="http://schemas.microsoft.com/office/drawing/2014/main" id="{2A30B0BB-1FBA-42CC-8D78-27CE3C0FC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6400800"/>
            <a:ext cx="39147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Написать описание.</a:t>
            </a:r>
          </a:p>
          <a:p xmlns:a="http://schemas.openxmlformats.org/drawingml/2006/main">
            <a: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Настроить оформление.</a:t>
            </a:r>
          </a:p>
        </p:txBody>
      </p:sp>
      <p:sp>
        <p:nvSpPr>
          <p:cNvPr id="23" name="body">
            <a:extLst xmlns:a="http://schemas.openxmlformats.org/drawingml/2006/main">
              <a:ext uri="{FF2B5EF4-FFF2-40B4-BE49-F238E27FC236}">
                <a16:creationId xmlns:a16="http://schemas.microsoft.com/office/drawing/2014/main" id="{5B88B1B7-F15E-40A4-84C4-7A030921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5400675"/>
            <a:ext cx="361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→</a:t>
            </a:r>
          </a:p>
        </p:txBody>
      </p:sp>
      <p:sp>
        <p:nvSpPr>
          <p:cNvPr id="24" name="body">
            <a:extLst xmlns:a="http://schemas.openxmlformats.org/drawingml/2006/main">
              <a:ext uri="{FF2B5EF4-FFF2-40B4-BE49-F238E27FC236}">
                <a16:creationId xmlns:a16="http://schemas.microsoft.com/office/drawing/2014/main" id="{4B5DD85B-3494-4E2B-93D7-74417027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4075" y="3638550"/>
            <a:ext cx="39147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pPr>
            <a:r>
              <a: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C9F3DD-A124-4EE4-966B-BCD9CFEC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4075" y="5095875"/>
            <a:ext cx="39147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ody">
            <a:extLst xmlns:a="http://schemas.openxmlformats.org/drawingml/2006/main">
              <a:ext uri="{FF2B5EF4-FFF2-40B4-BE49-F238E27FC236}">
                <a16:creationId xmlns:a16="http://schemas.microsoft.com/office/drawing/2014/main" id="{B6D752F4-7ECC-4DBD-992B-C29F13A0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4075" y="5495925"/>
            <a:ext cx="39147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pPr>
            <a:r>
              <a: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rPr>
              <a:t>Проверка</a:t>
            </a:r>
          </a:p>
        </p:txBody>
      </p:sp>
      <p:sp>
        <p:nvSpPr>
          <p:cNvPr id="27" name="body">
            <a:extLst xmlns:a="http://schemas.openxmlformats.org/drawingml/2006/main">
              <a:ext uri="{FF2B5EF4-FFF2-40B4-BE49-F238E27FC236}">
                <a16:creationId xmlns:a16="http://schemas.microsoft.com/office/drawing/2014/main" id="{D1107E6E-2D30-4688-BC2C-449B7AB3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4075" y="6400800"/>
            <a:ext cx="39147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Подтвердить сведения.</a:t>
            </a:r>
          </a:p>
          <a:p xmlns:a="http://schemas.openxmlformats.org/drawingml/2006/main">
            <a: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Скопировать HTML.</a:t>
            </a:r>
          </a:p>
        </p:txBody>
      </p:sp>
    </p:spTree>
    <p:extLst>
      <p:ext uri="{BB962C8B-B14F-4D97-AF65-F5344CB8AC3E}">
        <p14:creationId xmlns:p14="http://schemas.microsoft.com/office/powerpoint/2010/main" val="12344996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089CBC-A223-4B3E-9D48-D2C2E9F1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001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0FC8F90-11F5-462C-8B8B-27C618DF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1476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ПЧЁЛКА  /  ПРЕДМЕТНАЯ ОБЛАСТЬ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805F20AC-FD6A-4AA7-A51A-0962F69A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4000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09 / 39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9554A5-7752-413E-AE0E-AE797019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4488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ED2F1873-C9E8-4569-8F81-40A1A8AB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6393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КОНЦЕПТ ДЛЯ РСХБ.ЦИФРА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0D14C336-762B-475A-98A6-BDBDF5F14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9639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ПЧЁЛКА</a:t>
            </a:r>
          </a:p>
        </p:txBody>
      </p:sp>
      <p:sp>
        <p:nvSpPr>
          <p:cNvPr id="7" name="heading">
            <a:extLst xmlns:a="http://schemas.openxmlformats.org/drawingml/2006/main">
              <a:ext uri="{FF2B5EF4-FFF2-40B4-BE49-F238E27FC236}">
                <a16:creationId xmlns:a16="http://schemas.microsoft.com/office/drawing/2014/main" id="{057CBE33-C099-4522-A585-A9F750AC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00150"/>
            <a:ext cx="166116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pPr>
            <a:r>
              <a: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rPr>
              <a:t>У разных товаров — разные пробелы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EC695457-7848-44A3-83D0-814011B1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24900"/>
            <a:ext cx="16611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rPr>
              <a:t>Покрытие категорий и требований нужно расширять и проверять с отраслевыми специалистами.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8653324D-4065-4F1E-92F4-B0884872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16478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Одна универсальная форма заставляет продавца заполнять лишнее и пропускать важное.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09F960-E585-4C1E-807F-14565162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7972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48022311-613D-4A90-A2FD-5F7F74E9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43450"/>
            <a:ext cx="79724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Для пищевых товаров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A8A90D66-6173-4EC7-B616-890489FA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67350"/>
            <a:ext cx="7972425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Нужны состав, масса, производитель, срок годности и условия хранения по выбранному профилю.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1247FA-BD15-4237-B14D-C205B996E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476750"/>
            <a:ext cx="7972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AF512638-C5B2-47F9-9F5D-B3071264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743450"/>
            <a:ext cx="79724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Для других категорий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C624984C-B3AD-429D-A573-782DF462F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467350"/>
            <a:ext cx="7972425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Нужны свои обязательные характеристики. Классификатор помогает с выбором типа; профиль полей задаёт приложение.</a:t>
            </a:r>
          </a:p>
        </p:txBody>
      </p:sp>
    </p:spTree>
    <p:extLst>
      <p:ext uri="{BB962C8B-B14F-4D97-AF65-F5344CB8AC3E}">
        <p14:creationId xmlns:p14="http://schemas.microsoft.com/office/powerpoint/2010/main" val="11617281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58A16B-7FAC-4E41-8836-5D84074B8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001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46BF4AE-B439-491A-895D-1C82D75D8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1476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ПЧЁЛКА  /  ТЕКУЩИЙ ПРОЦЕСС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06DE1637-EC57-4843-AD3D-121E5797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4000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10 / 39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8B6FDA-5552-4308-B96F-745336EF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4488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8A29C030-A8B2-4F0A-A621-96E41E4C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6393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КОНЦЕПТ ДЛЯ РСХБ.ЦИФРА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375B5DE5-CEA2-4AAE-B912-7A934E56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9639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ПЧЁЛКА</a:t>
            </a:r>
          </a:p>
        </p:txBody>
      </p:sp>
      <p:sp>
        <p:nvSpPr>
          <p:cNvPr id="7" name="heading">
            <a:extLst xmlns:a="http://schemas.openxmlformats.org/drawingml/2006/main">
              <a:ext uri="{FF2B5EF4-FFF2-40B4-BE49-F238E27FC236}">
                <a16:creationId xmlns:a16="http://schemas.microsoft.com/office/drawing/2014/main" id="{B6EB2507-3D2A-44D4-9B21-D8406C47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00150"/>
            <a:ext cx="166116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pPr>
            <a:r>
              <a: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rPr>
              <a:t>Сегодня продавец собирает всё сам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D4F9DDA1-7199-4675-9041-CD894738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24900"/>
            <a:ext cx="16611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rPr>
              <a:t>Текущий процесс — модель для сравнения в пилоте, без заявленного измеренного времени.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2963F686-484B-49EC-BD0E-C77748A9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16478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Фото в телефоне → сведения на упаковке → текст в заметках → ручной перенос на сайт.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A5774B-E7D9-4C1C-805B-9BF558E2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7972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3B8F7F52-4702-49AB-BE09-EFF9A616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43450"/>
            <a:ext cx="79724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Где теряется время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1DF7D322-0044-40CE-87DC-65071B02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67350"/>
            <a:ext cx="7972425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Переписать характеристики. Придумать начало текста. Подготовить фотографии. Собрать несколько объявлений.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004335-EBCC-4B39-A635-39EFF036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476750"/>
            <a:ext cx="7972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B4D214EA-CCBF-4CAA-8D5C-9D674E5E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743450"/>
            <a:ext cx="79724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Что остаётся после публикации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EDAFD23A-19EA-4C66-8156-1CC1945BD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467350"/>
            <a:ext cx="7972425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Проверить цену в каждом месте, найти ссылки на объявления и вспомнить, что уже продано.</a:t>
            </a:r>
          </a:p>
        </p:txBody>
      </p:sp>
    </p:spTree>
    <p:extLst>
      <p:ext uri="{BB962C8B-B14F-4D97-AF65-F5344CB8AC3E}">
        <p14:creationId xmlns:p14="http://schemas.microsoft.com/office/powerpoint/2010/main" val="9627024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D0CF9B-EC48-45C4-9945-82276FBE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001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54CBDE7-A020-4849-A65A-9AEDAE08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1476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ПЧЁЛКА  /  КАЧЕСТВО КАРТОЧКИ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946FBEA6-83A8-4091-86EA-378587F6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4000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11 / 39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72DE83-59C4-435C-90C6-C49DA027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4488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1673E98E-9C80-4E11-B445-D5C8406B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6393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КОНЦЕПТ ДЛЯ РСХБ.ЦИФРА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C6CD8D6D-52AC-469B-817D-095C5C2B0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9639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ПЧЁЛКА</a:t>
            </a:r>
          </a:p>
        </p:txBody>
      </p:sp>
      <p:sp>
        <p:nvSpPr>
          <p:cNvPr id="7" name="heading">
            <a:extLst xmlns:a="http://schemas.openxmlformats.org/drawingml/2006/main">
              <a:ext uri="{FF2B5EF4-FFF2-40B4-BE49-F238E27FC236}">
                <a16:creationId xmlns:a16="http://schemas.microsoft.com/office/drawing/2014/main" id="{F24C2F77-468B-4FB3-BC90-EFAEF726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00150"/>
            <a:ext cx="166116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pPr>
            <a:r>
              <a: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rPr>
              <a:t>Хорошая карточка отвечает на вопросы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81DC3D92-737C-4E6E-B3F1-4D5913FA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24900"/>
            <a:ext cx="16611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rPr>
              <a:t>Приложение показывает недостающие сведения конкретными пунктами, а не общей оценкой «плохо».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85E8A5E4-346C-4A4D-A42C-D10118AB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16478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Что продаётся? Сколько стоит? Какие свойства подтверждены? Как связаться с продавцом?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50C82D-F841-4950-884B-5A195659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7972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4EDCC3AF-524A-4545-9706-3BE23EBB1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43450"/>
            <a:ext cx="79724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Фото и текст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C8908B46-3272-4969-8F1F-DE5C640AB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67350"/>
            <a:ext cx="7972425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Понятное главное фото, читаемое название, короткое описание без неподтверждённых обещаний.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E53175-A9D8-494C-9C9A-D9BFD5B8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476750"/>
            <a:ext cx="7972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BC4EBF78-86F2-4B26-B8BF-34E4DFE7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743450"/>
            <a:ext cx="79724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Характеристики и действие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2E633FDF-5972-44E2-9FBB-8BBAC5973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467350"/>
            <a:ext cx="7972425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Обязательные поля категории, цена при наличии и безопасная ссылка для связи или перехода к товару.</a:t>
            </a:r>
          </a:p>
        </p:txBody>
      </p:sp>
    </p:spTree>
    <p:extLst>
      <p:ext uri="{BB962C8B-B14F-4D97-AF65-F5344CB8AC3E}">
        <p14:creationId xmlns:p14="http://schemas.microsoft.com/office/powerpoint/2010/main" val="1796953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918C85-129E-40A0-94C6-5BE1C63B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001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3E1AF08-2F02-4C78-84B9-2F9EA3B32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1476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ПЧЁЛКА  /  ПУТЬ ПОЛЬЗОВАТЕЛЯ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69386D3C-C525-485C-BC68-0E796C25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4000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12 / 39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99A97B-90B9-4F9F-AC10-662EB811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4488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2D2EA0BE-E923-4553-AECA-6089E714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6393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КОНЦЕПТ ДЛЯ РСХБ.ЦИФРА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5B91D8D1-1C3B-444F-8444-6197324F6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9639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ПЧЁЛКА</a:t>
            </a:r>
          </a:p>
        </p:txBody>
      </p:sp>
      <p:sp>
        <p:nvSpPr>
          <p:cNvPr id="7" name="heading">
            <a:extLst xmlns:a="http://schemas.openxmlformats.org/drawingml/2006/main">
              <a:ext uri="{FF2B5EF4-FFF2-40B4-BE49-F238E27FC236}">
                <a16:creationId xmlns:a16="http://schemas.microsoft.com/office/drawing/2014/main" id="{DB2A024D-E141-4097-9F2E-06FF81AD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00150"/>
            <a:ext cx="166116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pPr>
            <a:r>
              <a: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rPr>
              <a:t>Уточнения встроены в работу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A858E58A-30AD-4EC1-9103-C6E6DC94E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24900"/>
            <a:ext cx="16611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rPr>
              <a:t>Если источник не найден, поле остаётся пустым. Пользователь вводит сведения сам.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697A242D-55B1-4BC2-A1CF-8516B84C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39147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pPr>
            <a:r>
              <a: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9EF917-41B3-4688-867B-5B3F646B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95875"/>
            <a:ext cx="39147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DDADF8FB-5825-48B2-BEBB-FCC2061C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95925"/>
            <a:ext cx="39147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pPr>
            <a:r>
              <a: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rPr>
              <a:t>Подсказка ИИ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CBB38F36-53F1-4BD8-982A-4569B14C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00800"/>
            <a:ext cx="39147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Предложить тип товара.</a:t>
            </a:r>
          </a:p>
          <a:p xmlns:a="http://schemas.openxmlformats.org/drawingml/2006/main">
            <a: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Показать варианты.</a:t>
            </a:r>
          </a:p>
        </p:txBody>
      </p:sp>
      <p:sp>
        <p:nvSpPr>
          <p:cNvPr id="13" name="body">
            <a:extLst xmlns:a="http://schemas.openxmlformats.org/drawingml/2006/main">
              <a:ext uri="{FF2B5EF4-FFF2-40B4-BE49-F238E27FC236}">
                <a16:creationId xmlns:a16="http://schemas.microsoft.com/office/drawing/2014/main" id="{73F13E20-D1EA-4479-BC06-91882C88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400675"/>
            <a:ext cx="361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→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18FD7F82-0DFE-4801-BF6A-F42F1CE0E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638550"/>
            <a:ext cx="39147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pPr>
            <a:r>
              <a: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F45512-F6D6-4A56-9EA8-A24A72A0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5095875"/>
            <a:ext cx="39147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ody">
            <a:extLst xmlns:a="http://schemas.openxmlformats.org/drawingml/2006/main">
              <a:ext uri="{FF2B5EF4-FFF2-40B4-BE49-F238E27FC236}">
                <a16:creationId xmlns:a16="http://schemas.microsoft.com/office/drawing/2014/main" id="{E9E4CEBD-2B2F-40FB-B3BA-6B65851F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5495925"/>
            <a:ext cx="39147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pPr>
            <a:r>
              <a: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rPr>
              <a:t>Источник</a:t>
            </a:r>
          </a:p>
        </p:txBody>
      </p:sp>
      <p:sp>
        <p:nvSpPr>
          <p:cNvPr id="17" name="body">
            <a:extLst xmlns:a="http://schemas.openxmlformats.org/drawingml/2006/main">
              <a:ext uri="{FF2B5EF4-FFF2-40B4-BE49-F238E27FC236}">
                <a16:creationId xmlns:a16="http://schemas.microsoft.com/office/drawing/2014/main" id="{6AD6E1EE-A397-4F82-8EAD-A715ACD6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6400800"/>
            <a:ext cx="39147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Найти совпадение</a:t>
            </a:r>
          </a:p>
          <a:p xmlns:a="http://schemas.openxmlformats.org/drawingml/2006/main">
            <a: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по штрихкоду или имени.</a:t>
            </a:r>
          </a:p>
        </p:txBody>
      </p:sp>
      <p:sp>
        <p:nvSpPr>
          <p:cNvPr id="18" name="body">
            <a:extLst xmlns:a="http://schemas.openxmlformats.org/drawingml/2006/main">
              <a:ext uri="{FF2B5EF4-FFF2-40B4-BE49-F238E27FC236}">
                <a16:creationId xmlns:a16="http://schemas.microsoft.com/office/drawing/2014/main" id="{52DCAA44-2362-4DD8-84BC-59CF9141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400675"/>
            <a:ext cx="361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→</a:t>
            </a:r>
          </a:p>
        </p:txBody>
      </p:sp>
      <p:sp>
        <p:nvSpPr>
          <p:cNvPr id="19" name="body">
            <a:extLst xmlns:a="http://schemas.openxmlformats.org/drawingml/2006/main">
              <a:ext uri="{FF2B5EF4-FFF2-40B4-BE49-F238E27FC236}">
                <a16:creationId xmlns:a16="http://schemas.microsoft.com/office/drawing/2014/main" id="{42754B2D-39C5-438C-892F-900878BC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638550"/>
            <a:ext cx="39147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pPr>
            <a:r>
              <a: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609A8A-7408-4547-941C-7946DE1B8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095875"/>
            <a:ext cx="39147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ody">
            <a:extLst xmlns:a="http://schemas.openxmlformats.org/drawingml/2006/main">
              <a:ext uri="{FF2B5EF4-FFF2-40B4-BE49-F238E27FC236}">
                <a16:creationId xmlns:a16="http://schemas.microsoft.com/office/drawing/2014/main" id="{80BC555F-78C4-414B-89BD-F83C3195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495925"/>
            <a:ext cx="39147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pPr>
            <a:r>
              <a: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rPr>
              <a:t>Подтверждение</a:t>
            </a:r>
          </a:p>
        </p:txBody>
      </p:sp>
      <p:sp>
        <p:nvSpPr>
          <p:cNvPr id="22" name="body">
            <a:extLst xmlns:a="http://schemas.openxmlformats.org/drawingml/2006/main">
              <a:ext uri="{FF2B5EF4-FFF2-40B4-BE49-F238E27FC236}">
                <a16:creationId xmlns:a16="http://schemas.microsoft.com/office/drawing/2014/main" id="{D93C3497-305D-4B74-BEE4-BA31F506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6400800"/>
            <a:ext cx="39147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Сверить упаковку.</a:t>
            </a:r>
          </a:p>
          <a:p xmlns:a="http://schemas.openxmlformats.org/drawingml/2006/main">
            <a: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Принять только верное.</a:t>
            </a:r>
          </a:p>
        </p:txBody>
      </p:sp>
      <p:sp>
        <p:nvSpPr>
          <p:cNvPr id="23" name="body">
            <a:extLst xmlns:a="http://schemas.openxmlformats.org/drawingml/2006/main">
              <a:ext uri="{FF2B5EF4-FFF2-40B4-BE49-F238E27FC236}">
                <a16:creationId xmlns:a16="http://schemas.microsoft.com/office/drawing/2014/main" id="{7DCD16FF-7CF7-4F3D-97C6-7C47B7EE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5400675"/>
            <a:ext cx="361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→</a:t>
            </a:r>
          </a:p>
        </p:txBody>
      </p:sp>
      <p:sp>
        <p:nvSpPr>
          <p:cNvPr id="24" name="body">
            <a:extLst xmlns:a="http://schemas.openxmlformats.org/drawingml/2006/main">
              <a:ext uri="{FF2B5EF4-FFF2-40B4-BE49-F238E27FC236}">
                <a16:creationId xmlns:a16="http://schemas.microsoft.com/office/drawing/2014/main" id="{97AB377D-159C-43BA-9C0A-BAAB2E38E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4075" y="3638550"/>
            <a:ext cx="39147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pPr>
            <a:r>
              <a: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B5C9F8-6295-40A1-8807-A3648787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4075" y="5095875"/>
            <a:ext cx="39147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ody">
            <a:extLst xmlns:a="http://schemas.openxmlformats.org/drawingml/2006/main">
              <a:ext uri="{FF2B5EF4-FFF2-40B4-BE49-F238E27FC236}">
                <a16:creationId xmlns:a16="http://schemas.microsoft.com/office/drawing/2014/main" id="{35E58E4C-A6D0-4AD6-8CC2-604F937E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4075" y="5495925"/>
            <a:ext cx="39147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pPr>
            <a:r>
              <a: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rPr>
              <a:t>Черновик</a:t>
            </a:r>
          </a:p>
        </p:txBody>
      </p:sp>
      <p:sp>
        <p:nvSpPr>
          <p:cNvPr id="27" name="body">
            <a:extLst xmlns:a="http://schemas.openxmlformats.org/drawingml/2006/main">
              <a:ext uri="{FF2B5EF4-FFF2-40B4-BE49-F238E27FC236}">
                <a16:creationId xmlns:a16="http://schemas.microsoft.com/office/drawing/2014/main" id="{496F0BD0-7FA2-49E5-9B63-B3A36382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4075" y="6400800"/>
            <a:ext cx="39147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Собрать описание</a:t>
            </a:r>
          </a:p>
          <a:p xmlns:a="http://schemas.openxmlformats.org/drawingml/2006/main">
            <a: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из принятых фактов.</a:t>
            </a:r>
          </a:p>
        </p:txBody>
      </p:sp>
    </p:spTree>
    <p:extLst>
      <p:ext uri="{BB962C8B-B14F-4D97-AF65-F5344CB8AC3E}">
        <p14:creationId xmlns:p14="http://schemas.microsoft.com/office/powerpoint/2010/main" val="214397429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A59892-95C5-49A9-B800-8B0708A8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001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5AA67C1-A735-4F8F-9579-841814AF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1476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ПЧЁЛКА  /  ЭФФЕКТ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42F033D0-9A8E-4D03-AD95-A89B48358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4000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13 / 39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132991-30D8-483F-AE3B-87D58599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4488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9665D865-2DCF-4DEF-8288-18B062F1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6393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КОНЦЕПТ ДЛЯ РСХБ.ЦИФРА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11597252-E480-445A-8F17-EFEB6AD1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9639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ПЧЁЛКА</a:t>
            </a:r>
          </a:p>
        </p:txBody>
      </p:sp>
      <p:sp>
        <p:nvSpPr>
          <p:cNvPr id="7" name="heading">
            <a:extLst xmlns:a="http://schemas.openxmlformats.org/drawingml/2006/main">
              <a:ext uri="{FF2B5EF4-FFF2-40B4-BE49-F238E27FC236}">
                <a16:creationId xmlns:a16="http://schemas.microsoft.com/office/drawing/2014/main" id="{A4B8D88B-00D9-4F85-AE58-9A5F35D36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00150"/>
            <a:ext cx="166116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pPr>
            <a:r>
              <a: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rPr>
              <a:t>Что проверим на реальных продавцах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3266EC61-879A-4396-95AC-976184D0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24900"/>
            <a:ext cx="16611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rPr>
              <a:t>План измерения: одинаковые товары, одинаковые задания, отдельно первый и повторный запуск.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8327DF3F-49B3-4948-84AB-1BDE8889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16478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Ожидаем меньше повторного ввода и больше завершённых карточек. Эффект нужно измерить.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955DEE-65A3-4674-9839-B124F058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7972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D124A4FE-1C64-44B8-8512-BD4F6DEEE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43450"/>
            <a:ext cx="79724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Скорость и завершение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185F05BC-466C-45B9-B37F-BBA9E717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67350"/>
            <a:ext cx="7972425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Сравнить время ручной подготовки и работы с Пчёлкой. Посчитать, сколько пользователей доходят до экспорта.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A879FA-E9AC-405B-871C-5DE08077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476750"/>
            <a:ext cx="7972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2ECCBD7D-7785-4B42-83C1-DC6090DB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743450"/>
            <a:ext cx="79724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Качество и понятность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DA6BCB1C-2E0B-40E3-8A0E-72175FC73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467350"/>
            <a:ext cx="7972425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Проверить фактические ошибки, число исправлений и способность вставить HTML без помощи разработчика.</a:t>
            </a:r>
          </a:p>
        </p:txBody>
      </p:sp>
    </p:spTree>
    <p:extLst>
      <p:ext uri="{BB962C8B-B14F-4D97-AF65-F5344CB8AC3E}">
        <p14:creationId xmlns:p14="http://schemas.microsoft.com/office/powerpoint/2010/main" val="8602236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93E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A926DC-ACE6-42C9-ACA3-700D99B7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001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2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3D0CA43-62AC-4798-B4E8-1A88F241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1476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7F4E9"/>
                </a:solidFill>
                <a:latin typeface="DejaVu Sans"/>
                <a:ea typeface="DejaVu Sans"/>
                <a:cs typeface="DejaVu Sans"/>
              </a:rPr>
              <a:t>ПЧЁЛКА  /  АРХИТЕКТУРА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CEC422E3-3AEB-43C6-A601-F8E76F0F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4000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7F4E9"/>
                </a:solidFill>
                <a:latin typeface="DejaVu Sans"/>
                <a:ea typeface="DejaVu Sans"/>
                <a:cs typeface="DejaVu Sans"/>
              </a:rPr>
              <a:t>14 / 39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03375A-5423-48F6-83C5-F9ECF3CC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4488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2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228CFD5F-4124-444D-874C-C7C35C307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6393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7F4E9"/>
                </a:solidFill>
                <a:latin typeface="DejaVu Sans"/>
                <a:ea typeface="DejaVu Sans"/>
                <a:cs typeface="DejaVu Sans"/>
              </a:rPr>
              <a:t>КОНЦЕПТ ДЛЯ РСХБ.ЦИФРА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86F28027-F880-4BF8-AECD-D999EACF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9639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7F4E9"/>
                </a:solidFill>
                <a:latin typeface="DejaVu Sans"/>
                <a:ea typeface="DejaVu Sans"/>
                <a:cs typeface="DejaVu Sans"/>
              </a:rPr>
              <a:t>ПЧЁЛКА</a:t>
            </a:r>
          </a:p>
        </p:txBody>
      </p:sp>
      <p:sp>
        <p:nvSpPr>
          <p:cNvPr id="7" name="heading">
            <a:extLst xmlns:a="http://schemas.openxmlformats.org/drawingml/2006/main">
              <a:ext uri="{FF2B5EF4-FFF2-40B4-BE49-F238E27FC236}">
                <a16:creationId xmlns:a16="http://schemas.microsoft.com/office/drawing/2014/main" id="{2990D4FE-D738-437F-A1F6-C7AEF2F9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00150"/>
            <a:ext cx="166116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8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48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48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48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48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48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48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48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48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48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48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pPr>
            <a:r>
              <a:rPr sz="48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rPr>
              <a:t>Основная обработка — на устройстве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E0A7E787-BBCA-4B38-993D-DD7EB09B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24900"/>
            <a:ext cx="16611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E4EAD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>
                <a:solidFill>
                  <a:srgbClr val="E4EAD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>
                <a:solidFill>
                  <a:srgbClr val="E4EAD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>
                <a:solidFill>
                  <a:srgbClr val="E4EAD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>
                <a:solidFill>
                  <a:srgbClr val="E4EAD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>
                <a:solidFill>
                  <a:srgbClr val="E4EAD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>
                <a:solidFill>
                  <a:srgbClr val="E4EAD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>
                <a:solidFill>
                  <a:srgbClr val="E4EAD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>
                <a:solidFill>
                  <a:srgbClr val="E4EAD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>
                <a:solidFill>
                  <a:srgbClr val="E4EAD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E4EAD4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E4EAD4"/>
                </a:solidFill>
                <a:latin typeface="DejaVu Sans"/>
                <a:ea typeface="DejaVu Sans"/>
                <a:cs typeface="DejaVu Sans"/>
              </a:rPr>
              <a:t>На сервер уходит поисковый запрос: название или штрихкод. Фотографии, звук и контекст генерации туда не отправляются.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43892986-50ED-472C-96D8-677ABB5A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194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1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1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1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1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1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1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1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1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1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E7BD58"/>
                </a:solidFill>
                <a:latin typeface="DejaVu Sans"/>
                <a:ea typeface="DejaVu Sans"/>
                <a:cs typeface="DejaVu Sans"/>
              </a:rPr>
              <a:t>БРАУЗЕР ПРОДАВЦА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9CB4B5-98BC-43C0-A89B-81F33B547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104775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F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C8A5DAC4-8437-47AB-ABBD-1F7E476D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62375"/>
            <a:ext cx="438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550" b="1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550" b="1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550" b="1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550" b="1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550" b="1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550" b="1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550" b="1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550" b="1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550" b="1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E7BD58"/>
                </a:solidFill>
                <a:latin typeface="DejaVu Sans"/>
                <a:ea typeface="DejaVu Sans"/>
                <a:cs typeface="DejaVu Sans"/>
              </a:rPr>
              <a:t>Ввод и редактор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25BA670C-C28F-46CF-843B-05AC8A3E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86275"/>
            <a:ext cx="43815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2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2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2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2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2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2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2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2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2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F7F4E9"/>
                </a:solidFill>
                <a:latin typeface="DejaVu Sans"/>
                <a:ea typeface="DejaVu Sans"/>
                <a:cs typeface="DejaVu Sans"/>
              </a:rPr>
              <a:t>Фото · голос · штрихкод</a:t>
            </a:r>
          </a:p>
          <a:p xmlns:a="http://schemas.openxmlformats.org/drawingml/2006/main">
            <a:pPr algn="l">
              <a:defRPr sz="22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F7F4E9"/>
                </a:solidFill>
                <a:latin typeface="DejaVu Sans"/>
                <a:ea typeface="DejaVu Sans"/>
                <a:cs typeface="DejaVu Sans"/>
              </a:rPr>
              <a:t>Поля · текст · подтверждение</a:t>
            </a:r>
          </a:p>
        </p:txBody>
      </p:sp>
      <p:sp>
        <p:nvSpPr>
          <p:cNvPr id="13" name="body">
            <a:extLst xmlns:a="http://schemas.openxmlformats.org/drawingml/2006/main">
              <a:ext uri="{FF2B5EF4-FFF2-40B4-BE49-F238E27FC236}">
                <a16:creationId xmlns:a16="http://schemas.microsoft.com/office/drawing/2014/main" id="{3DBBAD13-DC40-438A-9648-0758005E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62375"/>
            <a:ext cx="447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550" b="1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550" b="1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550" b="1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550" b="1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550" b="1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550" b="1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550" b="1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550" b="1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550" b="1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E7BD58"/>
                </a:solidFill>
                <a:latin typeface="DejaVu Sans"/>
                <a:ea typeface="DejaVu Sans"/>
                <a:cs typeface="DejaVu Sans"/>
              </a:rPr>
              <a:t>Локальные модели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DD77254B-16C0-42B5-AC59-1ED18E57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86275"/>
            <a:ext cx="44767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2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2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2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2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2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2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2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2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2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F7F4E9"/>
                </a:solidFill>
                <a:latin typeface="DejaVu Sans"/>
                <a:ea typeface="DejaVu Sans"/>
                <a:cs typeface="DejaVu Sans"/>
              </a:rPr>
              <a:t>MobileCLIP · Vosk · Qwen</a:t>
            </a:r>
          </a:p>
          <a:p xmlns:a="http://schemas.openxmlformats.org/drawingml/2006/main">
            <a:pPr algn="l">
              <a:defRPr sz="22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F7F4E9"/>
                </a:solidFill>
                <a:latin typeface="DejaVu Sans"/>
                <a:ea typeface="DejaVu Sans"/>
                <a:cs typeface="DejaVu Sans"/>
              </a:rPr>
              <a:t>ONNX Runtime · WebLLM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315B2F24-AA18-49E2-B47C-105B58BE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68199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7F4E9"/>
                </a:solidFill>
                <a:latin typeface="DejaVu Sans"/>
                <a:ea typeface="DejaVu Sans"/>
                <a:cs typeface="DejaVu Sans"/>
              </a:rPr>
              <a:t>Хранение: IndexedDB  →  HTML / витрина / ZIP</a:t>
            </a:r>
          </a:p>
        </p:txBody>
      </p:sp>
      <p:sp>
        <p:nvSpPr>
          <p:cNvPr id="16" name="body">
            <a:extLst xmlns:a="http://schemas.openxmlformats.org/drawingml/2006/main">
              <a:ext uri="{FF2B5EF4-FFF2-40B4-BE49-F238E27FC236}">
                <a16:creationId xmlns:a16="http://schemas.microsoft.com/office/drawing/2014/main" id="{F1E1E06C-CE21-4603-B987-5B3FFFC43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819400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1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1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1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1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1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1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1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1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1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E7BD58"/>
                </a:solidFill>
                <a:latin typeface="DejaVu Sans"/>
                <a:ea typeface="DejaVu Sans"/>
                <a:cs typeface="DejaVu Sans"/>
              </a:rPr>
              <a:t>ПОИСКОВЫЙ КОНТУР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B9B252-C2DF-412D-ABFD-E612CF9B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3390900"/>
            <a:ext cx="5334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F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ody">
            <a:extLst xmlns:a="http://schemas.openxmlformats.org/drawingml/2006/main">
              <a:ext uri="{FF2B5EF4-FFF2-40B4-BE49-F238E27FC236}">
                <a16:creationId xmlns:a16="http://schemas.microsoft.com/office/drawing/2014/main" id="{A17F5272-B6D9-4F8F-ABAA-F8C5D873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0125" y="381000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700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700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700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700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700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700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700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700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700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F7F4E9"/>
                </a:solidFill>
                <a:latin typeface="DejaVu Sans"/>
                <a:ea typeface="DejaVu Sans"/>
                <a:cs typeface="DejaVu Sans"/>
              </a:rPr>
              <a:t>GET /api/products</a:t>
            </a:r>
          </a:p>
        </p:txBody>
      </p:sp>
      <p:sp>
        <p:nvSpPr>
          <p:cNvPr id="19" name="body">
            <a:extLst xmlns:a="http://schemas.openxmlformats.org/drawingml/2006/main">
              <a:ext uri="{FF2B5EF4-FFF2-40B4-BE49-F238E27FC236}">
                <a16:creationId xmlns:a16="http://schemas.microsoft.com/office/drawing/2014/main" id="{0465F9F1-E18A-4951-94D3-388994F0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0125" y="4810125"/>
            <a:ext cx="461962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2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2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2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2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2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2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2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2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2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F7F4E9"/>
                </a:solidFill>
                <a:latin typeface="DejaVu Sans"/>
                <a:ea typeface="DejaVu Sans"/>
                <a:cs typeface="DejaVu Sans"/>
              </a:rPr>
              <a:t>Название или GTIN</a:t>
            </a:r>
          </a:p>
          <a:p xmlns:a="http://schemas.openxmlformats.org/drawingml/2006/main">
            <a:pPr algn="l">
              <a:defRPr sz="22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F7F4E9"/>
                </a:solidFill>
                <a:latin typeface="DejaVu Sans"/>
                <a:ea typeface="DejaVu Sans"/>
                <a:cs typeface="DejaVu Sans"/>
              </a:rPr>
              <a:t>↓</a:t>
            </a:r>
          </a:p>
          <a:p xmlns:a="http://schemas.openxmlformats.org/drawingml/2006/main">
            <a:pPr algn="l">
              <a:defRPr sz="22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F7F4E9"/>
                </a:solidFill>
                <a:latin typeface="DejaVu Sans"/>
                <a:ea typeface="DejaVu Sans"/>
                <a:cs typeface="DejaVu Sans"/>
              </a:rPr>
              <a:t>Прокси → Open Food Facts</a:t>
            </a:r>
          </a:p>
          <a:p xmlns:a="http://schemas.openxmlformats.org/drawingml/2006/main">
            <a:pPr algn="l">
              <a:defRPr sz="22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F7F4E9"/>
                </a:solidFill>
                <a:latin typeface="DejaVu Sans"/>
                <a:ea typeface="DejaVu Sans"/>
                <a:cs typeface="DejaVu Sans"/>
              </a:rPr>
              <a:t>↓</a:t>
            </a:r>
          </a:p>
          <a:p xmlns:a="http://schemas.openxmlformats.org/drawingml/2006/main">
            <a:pPr algn="l">
              <a:defRPr sz="22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F7F4E9"/>
                </a:solidFill>
                <a:latin typeface="DejaVu Sans"/>
                <a:ea typeface="DejaVu Sans"/>
                <a:cs typeface="DejaVu Sans"/>
              </a:rPr>
              <a:t>Кандидаты + источники</a:t>
            </a:r>
          </a:p>
        </p:txBody>
      </p:sp>
      <p:sp>
        <p:nvSpPr>
          <p:cNvPr id="20" name="body">
            <a:extLst xmlns:a="http://schemas.openxmlformats.org/drawingml/2006/main">
              <a:ext uri="{FF2B5EF4-FFF2-40B4-BE49-F238E27FC236}">
                <a16:creationId xmlns:a16="http://schemas.microsoft.com/office/drawing/2014/main" id="{AEB9AC50-6EF7-4606-84A1-9F9CAC48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5086350"/>
            <a:ext cx="523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525" b="0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525" b="0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525" b="0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525" b="0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525" b="0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525" b="0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525" b="0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525" b="0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525" b="0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525" b="0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525" b="0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pPr>
            <a:r>
              <a:rPr sz="3525" b="0">
                <a:solidFill>
                  <a:srgbClr val="E7BD58"/>
                </a:solidFill>
                <a:latin typeface="DejaVu Sans"/>
                <a:ea typeface="DejaVu Sans"/>
                <a:cs typeface="DejaVu Sans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2297471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4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A1893E-197B-40EA-980D-F34D4112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001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346C04B-1073-4A00-A68C-F6D40F37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1476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ПЧЁЛКА  /  ДАННЫЕ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04221D03-E9ED-4DA1-A4B6-6BA72AA0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4000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15 / 39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570128-D094-408F-B15E-F536A9567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4488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6D8B21B2-D55D-40E3-A01E-1EAFEB93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6393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КОНЦЕПТ ДЛЯ РСХБ.ЦИФРА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E314D9BF-8645-4BD1-9E58-432FE0E8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9639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ПЧЁЛКА</a:t>
            </a:r>
          </a:p>
        </p:txBody>
      </p:sp>
      <p:sp>
        <p:nvSpPr>
          <p:cNvPr id="7" name="heading">
            <a:extLst xmlns:a="http://schemas.openxmlformats.org/drawingml/2006/main">
              <a:ext uri="{FF2B5EF4-FFF2-40B4-BE49-F238E27FC236}">
                <a16:creationId xmlns:a16="http://schemas.microsoft.com/office/drawing/2014/main" id="{0F2A8319-2028-40DB-9B23-75D37BEA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00150"/>
            <a:ext cx="166116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pPr>
            <a:r>
              <a: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rPr>
              <a:t>Каждое поле можно проверить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9D358674-DA63-4020-894E-F23C1761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24900"/>
            <a:ext cx="16611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rPr>
              <a:t>На экране — учебный пример с вручную заполненными сведениями.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A26EF700-CDD4-4100-B575-1016547E9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9925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Источник рядом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0F39803B-D738-4A3C-BB47-78C833EF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33825"/>
            <a:ext cx="59055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Сведения из найденной записи показываются с источником. Совпадение упаковки подтверждает человек.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11A220D9-0B67-4245-AFF5-71768930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4835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Неизвестное не заполняем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0487C4C3-1EEC-454D-B20F-05F49115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59055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Бренд не подменяет производителя. Состав и срок хранения не придумываются.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E9CA1C-028C-489A-A292-32FDC492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705100"/>
            <a:ext cx="10172700" cy="584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AD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B6264B-D215-48BD-8F80-686E970CB1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541031fbd2444e"/>
          <a:stretch xmlns:a="http://schemas.openxmlformats.org/drawingml/2006/main"/>
        </p:blipFill>
        <p:spPr>
          <a:xfrm xmlns:a="http://schemas.openxmlformats.org/drawingml/2006/main">
            <a:off x="8305965" y="2828925"/>
            <a:ext cx="8153071" cy="5600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35597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4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63F49F-A106-44C7-8913-13A457F79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001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B6772C3-1EC6-49FE-8F9F-2EF04E33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1476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ПЧЁЛКА  /  РАСПОЗНАВАНИЕ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862178AD-FF67-4B2F-ADD9-03E9BF4C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4000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16 / 39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0C76FD-195A-4412-BBFA-B9E6C4447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4488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6361D04F-9873-44A2-A492-7F60EFEA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6393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КОНЦЕПТ ДЛЯ РСХБ.ЦИФРА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ADF55F45-0818-4BA5-8AB3-955ABC15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9639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ПЧЁЛКА</a:t>
            </a:r>
          </a:p>
        </p:txBody>
      </p:sp>
      <p:sp>
        <p:nvSpPr>
          <p:cNvPr id="7" name="heading">
            <a:extLst xmlns:a="http://schemas.openxmlformats.org/drawingml/2006/main">
              <a:ext uri="{FF2B5EF4-FFF2-40B4-BE49-F238E27FC236}">
                <a16:creationId xmlns:a16="http://schemas.microsoft.com/office/drawing/2014/main" id="{61281AD4-B30A-43D6-B1A2-B4DE56BC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00150"/>
            <a:ext cx="166116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pPr>
            <a:r>
              <a: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rPr>
              <a:t>ИИ предлагает, что это за товар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F4CF703D-E59B-4041-ADA7-223B62B5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24900"/>
            <a:ext cx="16611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rPr>
              <a:t>Классификация по изображению — без OCR. Точный состав определяется по проверенному источнику или вводится продавцом.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04F9615D-E0DF-43B8-A8B8-2B83DC67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9925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MobileCLIP-S0 · локально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0C63D182-6CB6-45DC-9507-16A11D68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33825"/>
            <a:ext cx="59055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Сравнивает фотографию с 34 типами товаров. Предлагает наиболее похожие варианты категории.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41804391-A900-4B18-AF9F-C1AF9F06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4835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Оценка сходства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093C5085-E8B4-4DDB-ACC1-65DEFA3A5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59055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Оценка сходства помогает сравнить варианты. Это не вероятность правильного ответа.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5BA613-D699-49A4-9BA4-56C22675EC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8c9e6b12ad46ff"/>
          <a:stretch xmlns:a="http://schemas.openxmlformats.org/drawingml/2006/main"/>
        </p:blipFill>
        <p:spPr>
          <a:xfrm xmlns:a="http://schemas.openxmlformats.org/drawingml/2006/main">
            <a:off x="9477375" y="2838450"/>
            <a:ext cx="5476875" cy="5476875"/>
          </a:xfrm>
          <a:prstGeom xmlns:a="http://schemas.openxmlformats.org/drawingml/2006/main" prst="rect">
            <a:avLst/>
          </a:prstGeom>
        </p:spPr>
      </p:pic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B7B27B39-87A6-41EC-9D74-0B9C542D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8248650"/>
            <a:ext cx="914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rPr>
              <a:t>Учебная упаковка · пример изображения</a:t>
            </a:r>
          </a:p>
        </p:txBody>
      </p:sp>
    </p:spTree>
    <p:extLst>
      <p:ext uri="{BB962C8B-B14F-4D97-AF65-F5344CB8AC3E}">
        <p14:creationId xmlns:p14="http://schemas.microsoft.com/office/powerpoint/2010/main" val="205210732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4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507D61-FCDF-4B3F-B211-5A1B7A47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001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A22ADA7-5AD7-42A5-A0E1-A720D183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1476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ПЧЁЛКА  /  ОПИСАНИЕ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8BD86ED7-37AC-4A12-82F8-0C39D7B1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4000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17 / 39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3A4D09-37BF-4F88-9A13-95F5D91E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4488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F4278FD4-2D37-4BAE-96E0-DF83A145A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6393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КОНЦЕПТ ДЛЯ РСХБ.ЦИФРА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B0088057-8A76-43EB-803E-0C3C43E04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9639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ПЧЁЛКА</a:t>
            </a:r>
          </a:p>
        </p:txBody>
      </p:sp>
      <p:sp>
        <p:nvSpPr>
          <p:cNvPr id="7" name="heading">
            <a:extLst xmlns:a="http://schemas.openxmlformats.org/drawingml/2006/main">
              <a:ext uri="{FF2B5EF4-FFF2-40B4-BE49-F238E27FC236}">
                <a16:creationId xmlns:a16="http://schemas.microsoft.com/office/drawing/2014/main" id="{E564A1CA-9B93-419F-BE79-1A71BF95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00150"/>
            <a:ext cx="166116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pPr>
            <a:r>
              <a: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rPr>
              <a:t>Написать с нуля или продолжить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F3FE14A0-0ADB-4FE0-A948-3EBF2088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24900"/>
            <a:ext cx="16611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rPr>
              <a:t>Нужен WebGPU. Полный запуск генерации на GPU в этой проверке недоступен; ручной редактор и шаблон остаются доступны.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D9783A69-C91F-4B4D-92DB-D3AE5AFF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9925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Qwen2.5-0.5B-Instruct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F4935569-E609-483E-81C4-998BB07C1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33825"/>
            <a:ext cx="59055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Локальное создание и улучшение текста на этапах данных, оформления и публикации.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84CA7A54-DE3C-41DC-94F8-4D381A06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4835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Запрос своими словами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5C174E35-B98A-4AD1-8C6C-5C060367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59055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Можно задать тон и уточнение: «Короче», «Для поста», «Без рекламных клише». Новые числа и спорные свойства проверяются.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06F855-B5AC-425C-98D4-01A4703B9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705100"/>
            <a:ext cx="10172700" cy="584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AD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143C6E-3A81-46AC-AF8D-429E4EB075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8daadb90bc4abc"/>
          <a:stretch xmlns:a="http://schemas.openxmlformats.org/drawingml/2006/main"/>
        </p:blipFill>
        <p:spPr>
          <a:xfrm xmlns:a="http://schemas.openxmlformats.org/drawingml/2006/main">
            <a:off x="8305965" y="2828925"/>
            <a:ext cx="8153071" cy="5600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92724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4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8027FA-C40E-4A47-8641-20D7F439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001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B51A299-EF11-44A7-94C3-77443EEC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1476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ПЧЁЛКА  /  ГОЛОС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E05BE45D-333C-490A-BF2B-E794B66D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4000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18 / 39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7203AC-1304-40EF-88B7-A1B94277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4488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F9649FF7-BD20-4DC4-A26C-AA0667D29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6393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КОНЦЕПТ ДЛЯ РСХБ.ЦИФРА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AD3109C3-DDFB-413A-8939-4F44F534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9639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ПЧЁЛКА</a:t>
            </a:r>
          </a:p>
        </p:txBody>
      </p:sp>
      <p:sp>
        <p:nvSpPr>
          <p:cNvPr id="7" name="heading">
            <a:extLst xmlns:a="http://schemas.openxmlformats.org/drawingml/2006/main">
              <a:ext uri="{FF2B5EF4-FFF2-40B4-BE49-F238E27FC236}">
                <a16:creationId xmlns:a16="http://schemas.microsoft.com/office/drawing/2014/main" id="{5B5AC490-E9A7-4367-8684-021C0D98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00150"/>
            <a:ext cx="166116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pPr>
            <a:r>
              <a: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rPr>
              <a:t>Рассказать о товаре вслух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EF92C1A0-3145-4FFD-87D6-B1FFE00F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24900"/>
            <a:ext cx="16611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rPr>
              <a:t>Проверено на синтетическом русском WAV. Микрофон конкретного устройства требует отдельной проверки.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3FCD44CD-B79F-4E16-94A4-0DFCBDB0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9925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Vosk · русский язык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D537A4A8-D2BD-4389-BBEE-18035FE4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33825"/>
            <a:ext cx="59055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Локальная расшифровка микрофона или аудиофайла. Кандидаты полей показываются до применения.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3947F9AC-2C94-4B4A-920C-04D460FE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4835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Сначала прослушать себя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BC1CF423-2A75-4900-8DB5-F9F2D0C8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59055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Текст можно исправить. «Пятьсот граммов» преобразуется в 500 г, а незнакомое название проверяет человек.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70B2C7-C98F-4F1E-9450-49ACBDA7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705100"/>
            <a:ext cx="10172700" cy="584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AD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6F506B-62A7-422E-BE11-E4F559A42F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e59d9b65d949cf"/>
          <a:stretch xmlns:a="http://schemas.openxmlformats.org/drawingml/2006/main"/>
        </p:blipFill>
        <p:spPr>
          <a:xfrm xmlns:a="http://schemas.openxmlformats.org/drawingml/2006/main">
            <a:off x="8305965" y="2828925"/>
            <a:ext cx="8153071" cy="5600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13976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4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45C070-BD08-4C51-8112-D583F812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001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78C2AEB-4495-421E-BABE-7E58FFCF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1476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ПЧЁЛКА  /  ПРЕДПРОВЕРКА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83B10930-9E04-4C76-8686-CCA7A340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4000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19 / 39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B3F734-C230-4C7B-B3CF-1F40993B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4488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D2F86F30-5E1D-43B0-844B-3B602B81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6393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КОНЦЕПТ ДЛЯ РСХБ.ЦИФРА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26E90582-278B-4416-AE31-BBDC73478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9639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ПЧЁЛКА</a:t>
            </a:r>
          </a:p>
        </p:txBody>
      </p:sp>
      <p:sp>
        <p:nvSpPr>
          <p:cNvPr id="7" name="heading">
            <a:extLst xmlns:a="http://schemas.openxmlformats.org/drawingml/2006/main">
              <a:ext uri="{FF2B5EF4-FFF2-40B4-BE49-F238E27FC236}">
                <a16:creationId xmlns:a16="http://schemas.microsoft.com/office/drawing/2014/main" id="{DCE43AE9-5EBF-4AAC-8D99-D3A4AFF53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00150"/>
            <a:ext cx="166116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pPr>
            <a:r>
              <a: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rPr>
              <a:t>Готовность видна до экспорта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AB94D963-2E9B-4B3A-B3DD-E9ACDE60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24900"/>
            <a:ext cx="16611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rPr>
              <a:t>100% не означает одобрение площадкой. Предпроверка не проверяет сертификаты и все требования торговли.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B3BC24DC-5D99-4FE1-A62D-F6DDFE0A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9925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Список недостающего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4EFCCB68-B9C8-448D-A904-589281F1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33825"/>
            <a:ext cx="59055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Поля категории, текст, фотографии, цена и ссылка при необходимости. У каждого замечания есть действие.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E427A3A3-C9A2-4E11-A78E-831CFB4D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4835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Решение принимает продавец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61982459-D576-4550-939C-06B6A65E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59055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Экспорт доступен после ручного подтверждения. Процент отражает заполненность и проверки приложения.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74E836-D769-440B-9702-3012B7A9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705100"/>
            <a:ext cx="10172700" cy="584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AD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88FFB1-C56D-4E22-B3E8-AC8A3DBD2C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08bfd56e284b80"/>
          <a:stretch xmlns:a="http://schemas.openxmlformats.org/drawingml/2006/main"/>
        </p:blipFill>
        <p:spPr>
          <a:xfrm xmlns:a="http://schemas.openxmlformats.org/drawingml/2006/main">
            <a:off x="8305965" y="2828925"/>
            <a:ext cx="8153071" cy="5600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8928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4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1F96EB-C2CB-4AF7-A2FB-26EFA8A3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001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8C754D6-1FA1-4E15-8804-6A072E89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1476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ПЧЁЛКА  /  КИБЕРБЕЗОПАСНОСТЬ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52F92A37-9697-481A-9AED-E56D3AA3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4000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20 / 39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932C7F-2439-467E-9C9B-934A993F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4488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8E94AC39-799C-4F25-AF86-DB48DFC0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6393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КОНЦЕПТ ДЛЯ РСХБ.ЦИФРА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3CB205F6-1BD6-4DE4-8E0A-CF00798E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9639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ПЧЁЛКА</a:t>
            </a:r>
          </a:p>
        </p:txBody>
      </p:sp>
      <p:sp>
        <p:nvSpPr>
          <p:cNvPr id="7" name="heading">
            <a:extLst xmlns:a="http://schemas.openxmlformats.org/drawingml/2006/main">
              <a:ext uri="{FF2B5EF4-FFF2-40B4-BE49-F238E27FC236}">
                <a16:creationId xmlns:a16="http://schemas.microsoft.com/office/drawing/2014/main" id="{7B81FF1D-4F84-4557-A0B7-621DA35C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00150"/>
            <a:ext cx="166116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pPr>
            <a:r>
              <a: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rPr>
              <a:t>Что защищено сейчас и что нужно дальше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9D39CDEB-A392-4303-9A34-42E2A8AC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24900"/>
            <a:ext cx="16611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rPr>
              <a:t>Данные браузера не зашифрованы приложением. Лимит 15 карточек локальный и может быть сброшен.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DFF52E39-7C18-4842-A28F-C8AC4681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16478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Локальная обработка сокращает передачу данных, но не заменяет защиту банковского контура.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4616DF-37AD-478C-91AD-36776595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7972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496D978A-BA71-434E-B964-87C8E956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43450"/>
            <a:ext cx="79724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Уже в прототипе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8AAD56C1-1DE8-408B-A3D6-056D4C27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67350"/>
            <a:ext cx="7972425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Ограничения файлов и запросов. Перекодирование фото без EXIF. Проверка ссылок и экранирование текста. CSP и ограниченный поисковый прокси.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520C11-2CDF-442F-A8E9-722ADD2E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476750"/>
            <a:ext cx="7972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A26F9111-780C-4239-ABE9-01D7053E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743450"/>
            <a:ext cx="79724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Перед промышленным запуском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6A3F87C4-861A-4656-A349-E3849923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467350"/>
            <a:ext cx="7972425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SSO, роли, изоляция организаций, журнал событий, серверные квоты и политика хранения. Проверка зависимостей и тестирование безопасности.</a:t>
            </a:r>
          </a:p>
        </p:txBody>
      </p:sp>
    </p:spTree>
    <p:extLst>
      <p:ext uri="{BB962C8B-B14F-4D97-AF65-F5344CB8AC3E}">
        <p14:creationId xmlns:p14="http://schemas.microsoft.com/office/powerpoint/2010/main" val="90483637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93E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DED88B-3330-49F5-843D-FDC0E494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001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2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8240B08-7764-4EA1-9619-4E1B2A2D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1476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7F4E9"/>
                </a:solidFill>
                <a:latin typeface="DejaVu Sans"/>
                <a:ea typeface="DejaVu Sans"/>
                <a:cs typeface="DejaVu Sans"/>
              </a:rPr>
              <a:t>ПЧЁЛКА  /  ИНТЕРФЕЙС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835FAB8C-9774-45C5-A6EF-46CC866C5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4000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7F4E9"/>
                </a:solidFill>
                <a:latin typeface="DejaVu Sans"/>
                <a:ea typeface="DejaVu Sans"/>
                <a:cs typeface="DejaVu Sans"/>
              </a:rPr>
              <a:t>21 / 39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249967-87E9-4432-B005-B4FF2554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4488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2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8C8ED18D-EF05-40D9-8BDC-C93E3E55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6393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7F4E9"/>
                </a:solidFill>
                <a:latin typeface="DejaVu Sans"/>
                <a:ea typeface="DejaVu Sans"/>
                <a:cs typeface="DejaVu Sans"/>
              </a:rPr>
              <a:t>КОНЦЕПТ ДЛЯ РСХБ.ЦИФРА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32689032-BD61-40BE-904D-0312B29E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9639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7F4E9"/>
                </a:solidFill>
                <a:latin typeface="DejaVu Sans"/>
                <a:ea typeface="DejaVu Sans"/>
                <a:cs typeface="DejaVu Sans"/>
              </a:rPr>
              <a:t>ПЧЁЛКА</a:t>
            </a:r>
          </a:p>
        </p:txBody>
      </p:sp>
      <p:sp>
        <p:nvSpPr>
          <p:cNvPr id="7" name="heading">
            <a:extLst xmlns:a="http://schemas.openxmlformats.org/drawingml/2006/main">
              <a:ext uri="{FF2B5EF4-FFF2-40B4-BE49-F238E27FC236}">
                <a16:creationId xmlns:a16="http://schemas.microsoft.com/office/drawing/2014/main" id="{8836BE3C-5E49-4970-89B0-64095F908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00150"/>
            <a:ext cx="166116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8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48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48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48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48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48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48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48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48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48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48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pPr>
            <a:r>
              <a:rPr sz="48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rPr>
              <a:t>Начало без технических настроек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EF2DCA58-B370-4032-9925-B6216AEB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24900"/>
            <a:ext cx="16611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E4EAD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>
                <a:solidFill>
                  <a:srgbClr val="E4EAD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>
                <a:solidFill>
                  <a:srgbClr val="E4EAD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>
                <a:solidFill>
                  <a:srgbClr val="E4EAD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>
                <a:solidFill>
                  <a:srgbClr val="E4EAD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>
                <a:solidFill>
                  <a:srgbClr val="E4EAD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>
                <a:solidFill>
                  <a:srgbClr val="E4EAD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>
                <a:solidFill>
                  <a:srgbClr val="E4EAD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>
                <a:solidFill>
                  <a:srgbClr val="E4EAD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>
                <a:solidFill>
                  <a:srgbClr val="E4EAD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E4EAD4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E4EAD4"/>
                </a:solidFill>
                <a:latin typeface="DejaVu Sans"/>
                <a:ea typeface="DejaVu Sans"/>
                <a:cs typeface="DejaVu Sans"/>
              </a:rPr>
              <a:t>Реальный экран последней версии. Платные ключи ИИ и файл .env для локального запуска не требуются.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27A5A4F6-3CCD-4D2C-8CA5-D8DF9429A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9925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550" b="1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550" b="1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550" b="1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550" b="1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550" b="1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550" b="1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550" b="1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550" b="1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550" b="1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E7BD58"/>
                </a:solidFill>
                <a:latin typeface="DejaVu Sans"/>
                <a:ea typeface="DejaVu Sans"/>
                <a:cs typeface="DejaVu Sans"/>
              </a:rPr>
              <a:t>Одна главная кнопка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829E439E-99C4-4880-AFC6-7FA0C43B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33825"/>
            <a:ext cx="59055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7F4E9"/>
                </a:solidFill>
                <a:latin typeface="DejaVu Sans"/>
                <a:ea typeface="DejaVu Sans"/>
                <a:cs typeface="DejaVu Sans"/>
              </a:rPr>
              <a:t>Пользователь начинает с товара. При первом входе проходит короткий туториал.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A5814E5F-8DBE-47A1-AC05-A761504E7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4835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550" b="1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550" b="1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550" b="1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550" b="1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550" b="1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550" b="1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550" b="1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550" b="1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550" b="1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E7BD58"/>
                </a:solidFill>
                <a:latin typeface="DejaVu Sans"/>
                <a:ea typeface="DejaVu Sans"/>
                <a:cs typeface="DejaVu Sans"/>
              </a:rPr>
              <a:t>Фирменный язык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83654A55-5B5E-4884-8B1F-74103E6A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59055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7F4E9"/>
                </a:solidFill>
                <a:latin typeface="DejaVu Sans"/>
                <a:ea typeface="DejaVu Sans"/>
                <a:cs typeface="DejaVu Sans"/>
              </a:rPr>
              <a:t>Лесной зелёный, тёплая бумага, медовый акцент и собственная пчёлка. Анимации можно выключить.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02C6BE-56A7-40A6-BA6A-698E05DB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705100"/>
            <a:ext cx="10172700" cy="584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4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147365-8CA4-4AB8-9429-0F944873D2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6e3987507248d3"/>
          <a:stretch xmlns:a="http://schemas.openxmlformats.org/drawingml/2006/main"/>
        </p:blipFill>
        <p:spPr>
          <a:xfrm xmlns:a="http://schemas.openxmlformats.org/drawingml/2006/main">
            <a:off x="8305965" y="2828925"/>
            <a:ext cx="8153071" cy="5600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87335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4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589725-54DC-461B-8DE7-60477B96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001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CEDCFF0-EF02-48FD-9CAA-7E7A2094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1476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ПЧЁЛКА  /  МАСШТАБИРОВАНИЕ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B6F774B6-751D-4BA2-9348-45B9B135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4000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22 / 39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42ECAF-B144-4997-9855-FA36F92D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4488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40A9BB8E-742D-4E87-992C-79420021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6393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КОНЦЕПТ ДЛЯ РСХБ.ЦИФРА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51CDDB51-0AE3-4939-BEAD-2068E96D2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9639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ПЧЁЛКА</a:t>
            </a:r>
          </a:p>
        </p:txBody>
      </p:sp>
      <p:sp>
        <p:nvSpPr>
          <p:cNvPr id="7" name="heading">
            <a:extLst xmlns:a="http://schemas.openxmlformats.org/drawingml/2006/main">
              <a:ext uri="{FF2B5EF4-FFF2-40B4-BE49-F238E27FC236}">
                <a16:creationId xmlns:a16="http://schemas.microsoft.com/office/drawing/2014/main" id="{1FC19664-9157-488F-BE20-6D598193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00150"/>
            <a:ext cx="166116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pPr>
            <a:r>
              <a: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rPr>
              <a:t>Один мастер. Несколько профилей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EE9502CC-72BD-45F6-9E21-A03A9105E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24900"/>
            <a:ext cx="16611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rPr>
              <a:t>Профиль категории — часть приложения. Масштабирование не означает автоматическое знание всех товаров.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252C4408-CFFF-46B9-A9B1-7ECA6D70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16478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Логику создания карточки можно сохранить при расширении ассортимента.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B09947-17E2-4649-BD99-52A50B86A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7972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4C51FA73-2255-464B-899C-D77E1CA6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43450"/>
            <a:ext cx="79724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Общее ядро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35921FAC-38EE-48E3-9CB4-AEED34A5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67350"/>
            <a:ext cx="7972425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Фотографии, редактор, происхождение сведений, подтверждение, каталог и экспорт.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C75523-75C1-44ED-9C2A-ECCF969B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476750"/>
            <a:ext cx="7972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47959316-7304-44E9-816B-4A0EB55E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743450"/>
            <a:ext cx="79724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Настройки категории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93703E57-CACF-41D2-90A2-B3ABFF23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467350"/>
            <a:ext cx="7972425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Набор полей, обязательность, подсказки, словари спорных обещаний и правила подготовки материалов.</a:t>
            </a:r>
          </a:p>
        </p:txBody>
      </p:sp>
    </p:spTree>
    <p:extLst>
      <p:ext uri="{BB962C8B-B14F-4D97-AF65-F5344CB8AC3E}">
        <p14:creationId xmlns:p14="http://schemas.microsoft.com/office/powerpoint/2010/main" val="154733425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4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DD38B0-05E9-4937-8B65-8706D3B2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001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27DDF44-0260-4BD4-83DB-8D83163C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1476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ПЧЁЛКА  /  ВНЕДРЕНИЕ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33A2CA60-A7DE-47A1-AF67-9F04B4CF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4000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23 / 39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B1E40A-CDA8-49F5-9627-0621DC938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4488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A81CBD3B-2D8D-4534-AB70-7360425C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6393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КОНЦЕПТ ДЛЯ РСХБ.ЦИФРА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40215D94-9093-4E3C-BCA4-04276A33F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9639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ПЧЁЛКА</a:t>
            </a:r>
          </a:p>
        </p:txBody>
      </p:sp>
      <p:sp>
        <p:nvSpPr>
          <p:cNvPr id="7" name="heading">
            <a:extLst xmlns:a="http://schemas.openxmlformats.org/drawingml/2006/main">
              <a:ext uri="{FF2B5EF4-FFF2-40B4-BE49-F238E27FC236}">
                <a16:creationId xmlns:a16="http://schemas.microsoft.com/office/drawing/2014/main" id="{7EB941F2-F0E0-4F4D-9666-C301643B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00150"/>
            <a:ext cx="166116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pPr>
            <a:r>
              <a: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rPr>
              <a:t>Пилот в четыре этапа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1502E87F-912C-444A-87B9-A3C819F8F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24900"/>
            <a:ext cx="16611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rPr>
              <a:t>Предлагаемый план; сроки, бюджет и участники согласуются после выбора площадки пилота.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C222F81F-6F8B-410B-867D-FA526733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39147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pPr>
            <a:r>
              <a: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434A57-7D0E-4806-840E-B7C85C2F2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95875"/>
            <a:ext cx="39147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1825A1D3-A444-494C-9FB3-2F5962A3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95925"/>
            <a:ext cx="39147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pPr>
            <a:r>
              <a: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rPr>
              <a:t>Категории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5EFEB6DF-E984-44A9-BCEA-D69746D3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00800"/>
            <a:ext cx="39147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Выбрать 2–3 профиля.</a:t>
            </a:r>
          </a:p>
          <a:p xmlns:a="http://schemas.openxmlformats.org/drawingml/2006/main">
            <a: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Согласовать поля.</a:t>
            </a:r>
          </a:p>
        </p:txBody>
      </p:sp>
      <p:sp>
        <p:nvSpPr>
          <p:cNvPr id="13" name="body">
            <a:extLst xmlns:a="http://schemas.openxmlformats.org/drawingml/2006/main">
              <a:ext uri="{FF2B5EF4-FFF2-40B4-BE49-F238E27FC236}">
                <a16:creationId xmlns:a16="http://schemas.microsoft.com/office/drawing/2014/main" id="{23729C84-147B-45A5-9076-7575862F2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400675"/>
            <a:ext cx="361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→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44333D27-B628-4510-AA25-A1AB9C7DC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638550"/>
            <a:ext cx="39147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pPr>
            <a:r>
              <a: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EDB9E2-F59D-4985-8580-0B67B953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5095875"/>
            <a:ext cx="39147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ody">
            <a:extLst xmlns:a="http://schemas.openxmlformats.org/drawingml/2006/main">
              <a:ext uri="{FF2B5EF4-FFF2-40B4-BE49-F238E27FC236}">
                <a16:creationId xmlns:a16="http://schemas.microsoft.com/office/drawing/2014/main" id="{7BA60CD3-7460-4F8B-BE9F-3F5779452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5495925"/>
            <a:ext cx="39147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pPr>
            <a:r>
              <a: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rPr>
              <a:t>Проверка</a:t>
            </a:r>
          </a:p>
        </p:txBody>
      </p:sp>
      <p:sp>
        <p:nvSpPr>
          <p:cNvPr id="17" name="body">
            <a:extLst xmlns:a="http://schemas.openxmlformats.org/drawingml/2006/main">
              <a:ext uri="{FF2B5EF4-FFF2-40B4-BE49-F238E27FC236}">
                <a16:creationId xmlns:a16="http://schemas.microsoft.com/office/drawing/2014/main" id="{261FA039-5626-46AF-A75D-7C7D8536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6400800"/>
            <a:ext cx="39147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Пройти сценарии</a:t>
            </a:r>
          </a:p>
          <a:p xmlns:a="http://schemas.openxmlformats.org/drawingml/2006/main">
            <a: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на целевых устройствах.</a:t>
            </a:r>
          </a:p>
        </p:txBody>
      </p:sp>
      <p:sp>
        <p:nvSpPr>
          <p:cNvPr id="18" name="body">
            <a:extLst xmlns:a="http://schemas.openxmlformats.org/drawingml/2006/main">
              <a:ext uri="{FF2B5EF4-FFF2-40B4-BE49-F238E27FC236}">
                <a16:creationId xmlns:a16="http://schemas.microsoft.com/office/drawing/2014/main" id="{9E031118-E649-413C-A7DF-4DA97926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400675"/>
            <a:ext cx="361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→</a:t>
            </a:r>
          </a:p>
        </p:txBody>
      </p:sp>
      <p:sp>
        <p:nvSpPr>
          <p:cNvPr id="19" name="body">
            <a:extLst xmlns:a="http://schemas.openxmlformats.org/drawingml/2006/main">
              <a:ext uri="{FF2B5EF4-FFF2-40B4-BE49-F238E27FC236}">
                <a16:creationId xmlns:a16="http://schemas.microsoft.com/office/drawing/2014/main" id="{DC03A605-EEEE-485A-B2CD-25BDEFF5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638550"/>
            <a:ext cx="39147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pPr>
            <a:r>
              <a: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1DAA0B-90B8-4295-B9A0-3FDB9378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095875"/>
            <a:ext cx="39147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ody">
            <a:extLst xmlns:a="http://schemas.openxmlformats.org/drawingml/2006/main">
              <a:ext uri="{FF2B5EF4-FFF2-40B4-BE49-F238E27FC236}">
                <a16:creationId xmlns:a16="http://schemas.microsoft.com/office/drawing/2014/main" id="{03DA674A-9B72-40BE-9242-DF75C49E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495925"/>
            <a:ext cx="39147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pPr>
            <a:r>
              <a: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rPr>
              <a:t>Продавцы</a:t>
            </a:r>
          </a:p>
        </p:txBody>
      </p:sp>
      <p:sp>
        <p:nvSpPr>
          <p:cNvPr id="22" name="body">
            <a:extLst xmlns:a="http://schemas.openxmlformats.org/drawingml/2006/main">
              <a:ext uri="{FF2B5EF4-FFF2-40B4-BE49-F238E27FC236}">
                <a16:creationId xmlns:a16="http://schemas.microsoft.com/office/drawing/2014/main" id="{1DDB5E53-4CA1-4B39-805E-B2A38268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6400800"/>
            <a:ext cx="39147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Провести задания.</a:t>
            </a:r>
          </a:p>
          <a:p xmlns:a="http://schemas.openxmlformats.org/drawingml/2006/main">
            <a: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Измерить результат.</a:t>
            </a:r>
          </a:p>
        </p:txBody>
      </p:sp>
      <p:sp>
        <p:nvSpPr>
          <p:cNvPr id="23" name="body">
            <a:extLst xmlns:a="http://schemas.openxmlformats.org/drawingml/2006/main">
              <a:ext uri="{FF2B5EF4-FFF2-40B4-BE49-F238E27FC236}">
                <a16:creationId xmlns:a16="http://schemas.microsoft.com/office/drawing/2014/main" id="{A2A10940-F00C-43AC-9544-F3EB6A29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5400675"/>
            <a:ext cx="361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→</a:t>
            </a:r>
          </a:p>
        </p:txBody>
      </p:sp>
      <p:sp>
        <p:nvSpPr>
          <p:cNvPr id="24" name="body">
            <a:extLst xmlns:a="http://schemas.openxmlformats.org/drawingml/2006/main">
              <a:ext uri="{FF2B5EF4-FFF2-40B4-BE49-F238E27FC236}">
                <a16:creationId xmlns:a16="http://schemas.microsoft.com/office/drawing/2014/main" id="{690C85A3-05DB-4656-B5D5-9A59370FC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4075" y="3638550"/>
            <a:ext cx="39147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pPr>
            <a:r>
              <a: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8005AD-5A32-4E36-8AB8-53F35E450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4075" y="5095875"/>
            <a:ext cx="39147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ody">
            <a:extLst xmlns:a="http://schemas.openxmlformats.org/drawingml/2006/main">
              <a:ext uri="{FF2B5EF4-FFF2-40B4-BE49-F238E27FC236}">
                <a16:creationId xmlns:a16="http://schemas.microsoft.com/office/drawing/2014/main" id="{AA972CB9-905B-4657-8E52-D556EDFA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4075" y="5495925"/>
            <a:ext cx="39147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pPr>
            <a:r>
              <a: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rPr>
              <a:t>Решение</a:t>
            </a:r>
          </a:p>
        </p:txBody>
      </p:sp>
      <p:sp>
        <p:nvSpPr>
          <p:cNvPr id="27" name="body">
            <a:extLst xmlns:a="http://schemas.openxmlformats.org/drawingml/2006/main">
              <a:ext uri="{FF2B5EF4-FFF2-40B4-BE49-F238E27FC236}">
                <a16:creationId xmlns:a16="http://schemas.microsoft.com/office/drawing/2014/main" id="{AD256637-4366-47C8-BAB2-3DEA3C5D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4075" y="6400800"/>
            <a:ext cx="39147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Исправить пробелы.</a:t>
            </a:r>
          </a:p>
          <a:p xmlns:a="http://schemas.openxmlformats.org/drawingml/2006/main">
            <a: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Определить контур.</a:t>
            </a:r>
          </a:p>
        </p:txBody>
      </p:sp>
    </p:spTree>
    <p:extLst>
      <p:ext uri="{BB962C8B-B14F-4D97-AF65-F5344CB8AC3E}">
        <p14:creationId xmlns:p14="http://schemas.microsoft.com/office/powerpoint/2010/main" val="114645159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4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160383-E627-4434-85A4-775D9B16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001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FC13A28-BA17-43E2-AA79-59AFE7EE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1476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ПЧЁЛКА  /  РИСКИ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C9642BD3-EB40-4D58-A4A3-9F036D4A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4000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24 / 39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798907-1281-4A9B-8F01-C57A0D1B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4488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C69F0664-E05F-4F1B-9561-9DBDFF44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6393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КОНЦЕПТ ДЛЯ РСХБ.ЦИФРА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B06E923C-929F-4B9A-A403-4A44252C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9639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ПЧЁЛКА</a:t>
            </a:r>
          </a:p>
        </p:txBody>
      </p:sp>
      <p:sp>
        <p:nvSpPr>
          <p:cNvPr id="7" name="heading">
            <a:extLst xmlns:a="http://schemas.openxmlformats.org/drawingml/2006/main">
              <a:ext uri="{FF2B5EF4-FFF2-40B4-BE49-F238E27FC236}">
                <a16:creationId xmlns:a16="http://schemas.microsoft.com/office/drawing/2014/main" id="{8098CAEC-EAA7-4DDA-9763-250F71BC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00150"/>
            <a:ext cx="166116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pPr>
            <a:r>
              <a: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rPr>
              <a:t>Что может остановить пользователя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9C4D7BBD-782F-49CE-B7CE-4886F93F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24900"/>
            <a:ext cx="16611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rPr>
              <a:t>Первый запуск дольше повторного: речевая модель уже в архиве, веса генератора загружаются отдельно.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CF9DA876-EB8E-45FE-8C1F-65F38C10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16478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Для каждого ограничения нужен понятный следующий шаг.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B6D49E-80B8-44A3-980A-C0F45C62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5092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EC9409A8-D5B7-46F8-BFAB-8189B5C5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43450"/>
            <a:ext cx="5092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Нет подходящего GPU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55EC17BB-DC62-4490-9998-BCD55030B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67350"/>
            <a:ext cx="50927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Показать совместимость до загрузки модели. Оставить ручное описание и шаблон по подтверждённым данным.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915345-332F-451C-B114-51237FA7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7650" y="4476750"/>
            <a:ext cx="5092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5E742172-3798-4BD5-AAFF-47A04E0B2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7650" y="4743450"/>
            <a:ext cx="5092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Нет точного совпадения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E595F703-EEA4-4866-950F-92DD0927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7650" y="5467350"/>
            <a:ext cx="50927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Показать источник и расхождения. Не переносить запись автоматически. Предложить заполнить недостающие поля.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496AF6-B94B-43C7-A9CF-74E477CD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7100" y="4476750"/>
            <a:ext cx="5092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ody">
            <a:extLst xmlns:a="http://schemas.openxmlformats.org/drawingml/2006/main">
              <a:ext uri="{FF2B5EF4-FFF2-40B4-BE49-F238E27FC236}">
                <a16:creationId xmlns:a16="http://schemas.microsoft.com/office/drawing/2014/main" id="{1549ECDB-A873-4DBF-9A67-A5F3F8972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7100" y="4743450"/>
            <a:ext cx="5092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Браузер очищен</a:t>
            </a:r>
          </a:p>
        </p:txBody>
      </p:sp>
      <p:sp>
        <p:nvSpPr>
          <p:cNvPr id="18" name="body">
            <a:extLst xmlns:a="http://schemas.openxmlformats.org/drawingml/2006/main">
              <a:ext uri="{FF2B5EF4-FFF2-40B4-BE49-F238E27FC236}">
                <a16:creationId xmlns:a16="http://schemas.microsoft.com/office/drawing/2014/main" id="{5901B451-8675-4E2A-A77C-7A8843D8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7100" y="5467350"/>
            <a:ext cx="50927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Предупредить о локальном хранении. Дать резервную копию и восстановление каталога.</a:t>
            </a:r>
          </a:p>
        </p:txBody>
      </p:sp>
    </p:spTree>
    <p:extLst>
      <p:ext uri="{BB962C8B-B14F-4D97-AF65-F5344CB8AC3E}">
        <p14:creationId xmlns:p14="http://schemas.microsoft.com/office/powerpoint/2010/main" val="39068470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4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AFB779-D9F5-4BDE-9FD1-468A0E1D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001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2BCE133-EEC7-4039-9D65-A201D84A2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1476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ПЧЁЛКА  /  ИСТОЧНИКИ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FD32BB68-0F09-48D0-AE97-9415B567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4000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25 / 39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B93A57-1440-4AC5-ADF0-AE2111BF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4488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F532F2CC-9406-4601-B6DD-422BB3C2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6393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КОНЦЕПТ ДЛЯ РСХБ.ЦИФРА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7FE4B437-F558-4E8D-BB64-357BD4CA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9639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ПЧЁЛКА</a:t>
            </a:r>
          </a:p>
        </p:txBody>
      </p:sp>
      <p:sp>
        <p:nvSpPr>
          <p:cNvPr id="7" name="heading">
            <a:extLst xmlns:a="http://schemas.openxmlformats.org/drawingml/2006/main">
              <a:ext uri="{FF2B5EF4-FFF2-40B4-BE49-F238E27FC236}">
                <a16:creationId xmlns:a16="http://schemas.microsoft.com/office/drawing/2014/main" id="{CBE8CC83-B214-4944-84A5-94EB1DED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00150"/>
            <a:ext cx="166116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pPr>
            <a:r>
              <a: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rPr>
              <a:t>На чём основано решение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347AD501-ABB2-4F2A-9815-108673A1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24900"/>
            <a:ext cx="16611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rPr>
              <a:t>MobileCLIP: github.com/apple-aiml-research/ml-mobileclip · WebLLM: webllm.mlc.ai/docs</a:t>
            </a:r>
          </a:p>
          <a:p xmlns:a="http://schemas.openxmlformats.org/drawingml/2006/main">
            <a: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rPr>
              <a:t>Vosk: alphacephei.com/vosk/models · OFF: openfoodfacts.github.io/openfoodfacts-server/api/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9BC1BF35-5300-46D1-8807-B71FB638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16478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Сведения о возможностях сверены с последней сборкой и документацией технологий.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584248-A7A1-4012-8799-ACEF65DA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7972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EFACE606-0437-4B3B-AD9F-3BE4DF3B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43450"/>
            <a:ext cx="79724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Реализация Пчёлки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C3D120D4-739A-46D9-9EAA-9127D463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67350"/>
            <a:ext cx="7972425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README, WHATS_NEW, SECURITY, исходный код и экраны прототипа. Состояние функций и ограничения указаны отдельно.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30E727-F982-4C96-AA52-37036C8F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476750"/>
            <a:ext cx="7972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A45554B8-C4F2-4A28-AA28-EC80C59A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743450"/>
            <a:ext cx="79724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Первичные технические источники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D9BEA5AA-4FB5-43E1-AF64-BF682561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467350"/>
            <a:ext cx="7972425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Apple MobileCLIP · WebLLM · Vosk · Open Food Facts. Ссылки приведены в заметках к тематическим слайдам.</a:t>
            </a:r>
          </a:p>
        </p:txBody>
      </p:sp>
    </p:spTree>
    <p:extLst>
      <p:ext uri="{BB962C8B-B14F-4D97-AF65-F5344CB8AC3E}">
        <p14:creationId xmlns:p14="http://schemas.microsoft.com/office/powerpoint/2010/main" val="7398852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4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06A1E7-C5DF-4159-82FE-3FEB3250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001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4F4538A-A51A-4333-BF91-ED05172E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1476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ПЧЁЛКА  /  СРАВНЕНИЕ ПОДХОДОВ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69480A45-0284-41C3-AA9A-E7147FE5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4000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26 / 39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81E7E2-912B-43FE-9999-BC50EB4EB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4488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FBA09B2E-7447-4E22-874F-882D2177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6393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КОНЦЕПТ ДЛЯ РСХБ.ЦИФРА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0FA02B04-7F27-428D-944F-38E72FB1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9639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ПЧЁЛКА</a:t>
            </a:r>
          </a:p>
        </p:txBody>
      </p:sp>
      <p:sp>
        <p:nvSpPr>
          <p:cNvPr id="7" name="heading">
            <a:extLst xmlns:a="http://schemas.openxmlformats.org/drawingml/2006/main">
              <a:ext uri="{FF2B5EF4-FFF2-40B4-BE49-F238E27FC236}">
                <a16:creationId xmlns:a16="http://schemas.microsoft.com/office/drawing/2014/main" id="{FD925F12-C21B-4F05-8FF6-FA2E8F087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00150"/>
            <a:ext cx="166116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pPr>
            <a:r>
              <a: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rPr>
              <a:t>Почему недостаточно просто чата с ИИ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FD65054E-7458-457F-9709-282DAA61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24900"/>
            <a:ext cx="16611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rPr>
              <a:t>Сравниваются способы работы, а не конкретные конкуренты. Возможности отдельных сервисов могут отличаться.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E44DE1-4F77-427C-98AF-527CEDAFA60D}"/>
              </a:ext>
            </a:extLst>
          </p:cNvPr>
          <p:cNvGraphicFramePr/>
          <p:nvPr/>
        </p:nvGraphicFramePr>
        <p:xfrm>
          <a:off xmlns:a="http://schemas.openxmlformats.org/drawingml/2006/main" x="838200" y="3057525"/>
          <a:ext xmlns:a="http://schemas.openxmlformats.org/drawingml/2006/main" cx="16611600" cy="5286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71875"/>
                <a:gridCol w="3667125"/>
                <a:gridCol w="4619625"/>
                <a:gridCol w="4752975"/>
              </a:tblGrid>
              <a:tr h="881063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7F4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Задача</a:t>
                      </a:r>
                    </a:p>
                  </a:txBody>
                  <a:tcPr marL="91440" marR="91440" marT="45720" marB="45720">
                    <a:lnL w="28575">
                      <a:solidFill>
                        <a:srgbClr val="F7F4E9"/>
                      </a:solidFill>
                      <a:prstDash val="solid"/>
                    </a:lnL>
                    <a:lnR w="28575">
                      <a:solidFill>
                        <a:srgbClr val="F7F4E9"/>
                      </a:solidFill>
                      <a:prstDash val="solid"/>
                    </a:lnR>
                    <a:lnT w="28575">
                      <a:solidFill>
                        <a:srgbClr val="F7F4E9"/>
                      </a:solidFill>
                      <a:prstDash val="solid"/>
                    </a:lnT>
                    <a:lnB w="28575">
                      <a:solidFill>
                        <a:srgbClr val="F7F4E9"/>
                      </a:solidFill>
                      <a:prstDash val="solid"/>
                    </a:lnB>
                    <a:solidFill>
                      <a:srgbClr val="193E31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7F4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Вручную</a:t>
                      </a:r>
                    </a:p>
                  </a:txBody>
                  <a:tcPr marL="91440" marR="91440" marT="45720" marB="45720">
                    <a:lnR w="28575">
                      <a:solidFill>
                        <a:srgbClr val="F7F4E9"/>
                      </a:solidFill>
                      <a:prstDash val="solid"/>
                    </a:lnR>
                    <a:lnT w="28575">
                      <a:solidFill>
                        <a:srgbClr val="F7F4E9"/>
                      </a:solidFill>
                      <a:prstDash val="solid"/>
                    </a:lnT>
                    <a:lnB w="28575">
                      <a:solidFill>
                        <a:srgbClr val="F7F4E9"/>
                      </a:solidFill>
                      <a:prstDash val="solid"/>
                    </a:lnB>
                    <a:solidFill>
                      <a:srgbClr val="193E31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7F4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Отдельный чат с ИИ</a:t>
                      </a:r>
                    </a:p>
                  </a:txBody>
                  <a:tcPr marL="91440" marR="91440" marT="45720" marB="45720">
                    <a:lnR w="28575">
                      <a:solidFill>
                        <a:srgbClr val="F7F4E9"/>
                      </a:solidFill>
                      <a:prstDash val="solid"/>
                    </a:lnR>
                    <a:lnT w="28575">
                      <a:solidFill>
                        <a:srgbClr val="F7F4E9"/>
                      </a:solidFill>
                      <a:prstDash val="solid"/>
                    </a:lnT>
                    <a:lnB w="28575">
                      <a:solidFill>
                        <a:srgbClr val="F7F4E9"/>
                      </a:solidFill>
                      <a:prstDash val="solid"/>
                    </a:lnB>
                    <a:solidFill>
                      <a:srgbClr val="193E31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7F4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Пчёлка</a:t>
                      </a:r>
                    </a:p>
                  </a:txBody>
                  <a:tcPr marL="91440" marR="91440" marT="45720" marB="45720">
                    <a:lnR w="28575">
                      <a:solidFill>
                        <a:srgbClr val="F7F4E9"/>
                      </a:solidFill>
                      <a:prstDash val="solid"/>
                    </a:lnR>
                    <a:lnT w="28575">
                      <a:solidFill>
                        <a:srgbClr val="F7F4E9"/>
                      </a:solidFill>
                      <a:prstDash val="solid"/>
                    </a:lnT>
                    <a:lnB w="28575">
                      <a:solidFill>
                        <a:srgbClr val="F7F4E9"/>
                      </a:solidFill>
                      <a:prstDash val="solid"/>
                    </a:lnB>
                    <a:solidFill>
                      <a:srgbClr val="193E31"/>
                    </a:solidFill>
                  </a:tcPr>
                </a:tc>
              </a:tr>
              <a:tr h="881063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E3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Подготовить текст</a:t>
                      </a:r>
                    </a:p>
                  </a:txBody>
                  <a:tcPr marL="91440" marR="91440" marT="45720" marB="45720">
                    <a:lnL w="28575">
                      <a:solidFill>
                        <a:srgbClr val="F7F4E9"/>
                      </a:solidFill>
                      <a:prstDash val="solid"/>
                    </a:lnL>
                    <a:lnR w="28575">
                      <a:solidFill>
                        <a:srgbClr val="F7F4E9"/>
                      </a:solidFill>
                      <a:prstDash val="solid"/>
                    </a:lnR>
                    <a:lnB w="28575">
                      <a:solidFill>
                        <a:srgbClr val="F7F4E9"/>
                      </a:solidFill>
                      <a:prstDash val="solid"/>
                    </a:lnB>
                    <a:solidFill>
                      <a:srgbClr val="E4EAD4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E3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Пишет продавец</a:t>
                      </a:r>
                    </a:p>
                  </a:txBody>
                  <a:tcPr marL="91440" marR="91440" marT="45720" marB="45720">
                    <a:lnR w="28575">
                      <a:solidFill>
                        <a:srgbClr val="F7F4E9"/>
                      </a:solidFill>
                      <a:prstDash val="solid"/>
                    </a:lnR>
                    <a:lnB w="28575">
                      <a:solidFill>
                        <a:srgbClr val="F7F4E9"/>
                      </a:solidFill>
                      <a:prstDash val="solid"/>
                    </a:lnB>
                    <a:solidFill>
                      <a:srgbClr val="E4EAD4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E3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Генерирует по запросу</a:t>
                      </a:r>
                    </a:p>
                  </a:txBody>
                  <a:tcPr marL="91440" marR="91440" marT="45720" marB="45720">
                    <a:lnR w="28575">
                      <a:solidFill>
                        <a:srgbClr val="F7F4E9"/>
                      </a:solidFill>
                      <a:prstDash val="solid"/>
                    </a:lnR>
                    <a:lnB w="28575">
                      <a:solidFill>
                        <a:srgbClr val="F7F4E9"/>
                      </a:solidFill>
                      <a:prstDash val="solid"/>
                    </a:lnB>
                    <a:solidFill>
                      <a:srgbClr val="E4EAD4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E3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Редактор + локальная модель</a:t>
                      </a:r>
                    </a:p>
                  </a:txBody>
                  <a:tcPr marL="91440" marR="91440" marT="45720" marB="45720">
                    <a:lnR w="28575">
                      <a:solidFill>
                        <a:srgbClr val="F7F4E9"/>
                      </a:solidFill>
                      <a:prstDash val="solid"/>
                    </a:lnR>
                    <a:lnB w="28575">
                      <a:solidFill>
                        <a:srgbClr val="F7F4E9"/>
                      </a:solidFill>
                      <a:prstDash val="solid"/>
                    </a:lnB>
                    <a:solidFill>
                      <a:srgbClr val="E4EAD4"/>
                    </a:solidFill>
                  </a:tcPr>
                </a:tc>
              </a:tr>
              <a:tr h="881063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E3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Проверить происхождение</a:t>
                      </a:r>
                    </a:p>
                  </a:txBody>
                  <a:tcPr marL="91440" marR="91440" marT="45720" marB="45720">
                    <a:lnL w="28575">
                      <a:solidFill>
                        <a:srgbClr val="F7F4E9"/>
                      </a:solidFill>
                      <a:prstDash val="solid"/>
                    </a:lnL>
                    <a:lnR w="28575">
                      <a:solidFill>
                        <a:srgbClr val="F7F4E9"/>
                      </a:solidFill>
                      <a:prstDash val="solid"/>
                    </a:lnR>
                    <a:lnB w="28575">
                      <a:solidFill>
                        <a:srgbClr val="F7F4E9"/>
                      </a:solidFill>
                      <a:prstDash val="solid"/>
                    </a:lnB>
                    <a:solidFill>
                      <a:srgbClr val="EDF0E3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E3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Искать самостоятельно</a:t>
                      </a:r>
                    </a:p>
                  </a:txBody>
                  <a:tcPr marL="91440" marR="91440" marT="45720" marB="45720">
                    <a:lnR w="28575">
                      <a:solidFill>
                        <a:srgbClr val="F7F4E9"/>
                      </a:solidFill>
                      <a:prstDash val="solid"/>
                    </a:lnR>
                    <a:lnB w="28575">
                      <a:solidFill>
                        <a:srgbClr val="F7F4E9"/>
                      </a:solidFill>
                      <a:prstDash val="solid"/>
                    </a:lnB>
                    <a:solidFill>
                      <a:srgbClr val="EDF0E3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E3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Зависит от сервиса</a:t>
                      </a:r>
                    </a:p>
                  </a:txBody>
                  <a:tcPr marL="91440" marR="91440" marT="45720" marB="45720">
                    <a:lnR w="28575">
                      <a:solidFill>
                        <a:srgbClr val="F7F4E9"/>
                      </a:solidFill>
                      <a:prstDash val="solid"/>
                    </a:lnR>
                    <a:lnB w="28575">
                      <a:solidFill>
                        <a:srgbClr val="F7F4E9"/>
                      </a:solidFill>
                      <a:prstDash val="solid"/>
                    </a:lnB>
                    <a:solidFill>
                      <a:srgbClr val="EDF0E3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E3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Источник и подтверждение</a:t>
                      </a:r>
                    </a:p>
                  </a:txBody>
                  <a:tcPr marL="91440" marR="91440" marT="45720" marB="45720">
                    <a:lnR w="28575">
                      <a:solidFill>
                        <a:srgbClr val="F7F4E9"/>
                      </a:solidFill>
                      <a:prstDash val="solid"/>
                    </a:lnR>
                    <a:lnB w="28575">
                      <a:solidFill>
                        <a:srgbClr val="F7F4E9"/>
                      </a:solidFill>
                      <a:prstDash val="solid"/>
                    </a:lnB>
                    <a:solidFill>
                      <a:srgbClr val="EDF0E3"/>
                    </a:solidFill>
                  </a:tcPr>
                </a:tc>
              </a:tr>
              <a:tr h="881063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E3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Не пропустить поля</a:t>
                      </a:r>
                    </a:p>
                  </a:txBody>
                  <a:tcPr marL="91440" marR="91440" marT="45720" marB="45720">
                    <a:lnL w="28575">
                      <a:solidFill>
                        <a:srgbClr val="F7F4E9"/>
                      </a:solidFill>
                      <a:prstDash val="solid"/>
                    </a:lnL>
                    <a:lnR w="28575">
                      <a:solidFill>
                        <a:srgbClr val="F7F4E9"/>
                      </a:solidFill>
                      <a:prstDash val="solid"/>
                    </a:lnR>
                    <a:lnB w="28575">
                      <a:solidFill>
                        <a:srgbClr val="F7F4E9"/>
                      </a:solidFill>
                      <a:prstDash val="solid"/>
                    </a:lnB>
                    <a:solidFill>
                      <a:srgbClr val="E4EAD4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E3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Держать список самому</a:t>
                      </a:r>
                    </a:p>
                  </a:txBody>
                  <a:tcPr marL="91440" marR="91440" marT="45720" marB="45720">
                    <a:lnR w="28575">
                      <a:solidFill>
                        <a:srgbClr val="F7F4E9"/>
                      </a:solidFill>
                      <a:prstDash val="solid"/>
                    </a:lnR>
                    <a:lnB w="28575">
                      <a:solidFill>
                        <a:srgbClr val="F7F4E9"/>
                      </a:solidFill>
                      <a:prstDash val="solid"/>
                    </a:lnB>
                    <a:solidFill>
                      <a:srgbClr val="E4EAD4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E3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Зависит от запроса</a:t>
                      </a:r>
                    </a:p>
                  </a:txBody>
                  <a:tcPr marL="91440" marR="91440" marT="45720" marB="45720">
                    <a:lnR w="28575">
                      <a:solidFill>
                        <a:srgbClr val="F7F4E9"/>
                      </a:solidFill>
                      <a:prstDash val="solid"/>
                    </a:lnR>
                    <a:lnB w="28575">
                      <a:solidFill>
                        <a:srgbClr val="F7F4E9"/>
                      </a:solidFill>
                      <a:prstDash val="solid"/>
                    </a:lnB>
                    <a:solidFill>
                      <a:srgbClr val="E4EAD4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E3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Профиль категории</a:t>
                      </a:r>
                    </a:p>
                  </a:txBody>
                  <a:tcPr marL="91440" marR="91440" marT="45720" marB="45720">
                    <a:lnR w="28575">
                      <a:solidFill>
                        <a:srgbClr val="F7F4E9"/>
                      </a:solidFill>
                      <a:prstDash val="solid"/>
                    </a:lnR>
                    <a:lnB w="28575">
                      <a:solidFill>
                        <a:srgbClr val="F7F4E9"/>
                      </a:solidFill>
                      <a:prstDash val="solid"/>
                    </a:lnB>
                    <a:solidFill>
                      <a:srgbClr val="E4EAD4"/>
                    </a:solidFill>
                  </a:tcPr>
                </a:tc>
              </a:tr>
              <a:tr h="881063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E3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Получить блок для сайта</a:t>
                      </a:r>
                    </a:p>
                  </a:txBody>
                  <a:tcPr marL="91440" marR="91440" marT="45720" marB="45720">
                    <a:lnL w="28575">
                      <a:solidFill>
                        <a:srgbClr val="F7F4E9"/>
                      </a:solidFill>
                      <a:prstDash val="solid"/>
                    </a:lnL>
                    <a:lnR w="28575">
                      <a:solidFill>
                        <a:srgbClr val="F7F4E9"/>
                      </a:solidFill>
                      <a:prstDash val="solid"/>
                    </a:lnR>
                    <a:lnB w="28575">
                      <a:solidFill>
                        <a:srgbClr val="F7F4E9"/>
                      </a:solidFill>
                      <a:prstDash val="solid"/>
                    </a:lnB>
                    <a:solidFill>
                      <a:srgbClr val="EDF0E3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E3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Верстать или искать шаблон</a:t>
                      </a:r>
                    </a:p>
                  </a:txBody>
                  <a:tcPr marL="91440" marR="91440" marT="45720" marB="45720">
                    <a:lnR w="28575">
                      <a:solidFill>
                        <a:srgbClr val="F7F4E9"/>
                      </a:solidFill>
                      <a:prstDash val="solid"/>
                    </a:lnR>
                    <a:lnB w="28575">
                      <a:solidFill>
                        <a:srgbClr val="F7F4E9"/>
                      </a:solidFill>
                      <a:prstDash val="solid"/>
                    </a:lnB>
                    <a:solidFill>
                      <a:srgbClr val="EDF0E3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E3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Нужен отдельный запрос</a:t>
                      </a:r>
                    </a:p>
                  </a:txBody>
                  <a:tcPr marL="91440" marR="91440" marT="45720" marB="45720">
                    <a:lnR w="28575">
                      <a:solidFill>
                        <a:srgbClr val="F7F4E9"/>
                      </a:solidFill>
                      <a:prstDash val="solid"/>
                    </a:lnR>
                    <a:lnB w="28575">
                      <a:solidFill>
                        <a:srgbClr val="F7F4E9"/>
                      </a:solidFill>
                      <a:prstDash val="solid"/>
                    </a:lnB>
                    <a:solidFill>
                      <a:srgbClr val="EDF0E3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E3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Готовый HTML-экспорт</a:t>
                      </a:r>
                    </a:p>
                  </a:txBody>
                  <a:tcPr marL="91440" marR="91440" marT="45720" marB="45720">
                    <a:lnR w="28575">
                      <a:solidFill>
                        <a:srgbClr val="F7F4E9"/>
                      </a:solidFill>
                      <a:prstDash val="solid"/>
                    </a:lnR>
                    <a:lnB w="28575">
                      <a:solidFill>
                        <a:srgbClr val="F7F4E9"/>
                      </a:solidFill>
                      <a:prstDash val="solid"/>
                    </a:lnB>
                    <a:solidFill>
                      <a:srgbClr val="EDF0E3"/>
                    </a:solidFill>
                  </a:tcPr>
                </a:tc>
              </a:tr>
              <a:tr h="881063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E3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Разместить объявление</a:t>
                      </a:r>
                    </a:p>
                  </a:txBody>
                  <a:tcPr marL="91440" marR="91440" marT="45720" marB="45720">
                    <a:lnL w="28575">
                      <a:solidFill>
                        <a:srgbClr val="F7F4E9"/>
                      </a:solidFill>
                      <a:prstDash val="solid"/>
                    </a:lnL>
                    <a:lnR w="28575">
                      <a:solidFill>
                        <a:srgbClr val="F7F4E9"/>
                      </a:solidFill>
                      <a:prstDash val="solid"/>
                    </a:lnR>
                    <a:lnB w="28575">
                      <a:solidFill>
                        <a:srgbClr val="F7F4E9"/>
                      </a:solidFill>
                      <a:prstDash val="solid"/>
                    </a:lnB>
                    <a:solidFill>
                      <a:srgbClr val="E4EAD4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E3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Вручную</a:t>
                      </a:r>
                    </a:p>
                  </a:txBody>
                  <a:tcPr marL="91440" marR="91440" marT="45720" marB="45720">
                    <a:lnR w="28575">
                      <a:solidFill>
                        <a:srgbClr val="F7F4E9"/>
                      </a:solidFill>
                      <a:prstDash val="solid"/>
                    </a:lnR>
                    <a:lnB w="28575">
                      <a:solidFill>
                        <a:srgbClr val="F7F4E9"/>
                      </a:solidFill>
                      <a:prstDash val="solid"/>
                    </a:lnB>
                    <a:solidFill>
                      <a:srgbClr val="E4EAD4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E3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Вручную / по сервису</a:t>
                      </a:r>
                    </a:p>
                  </a:txBody>
                  <a:tcPr marL="91440" marR="91440" marT="45720" marB="45720">
                    <a:lnR w="28575">
                      <a:solidFill>
                        <a:srgbClr val="F7F4E9"/>
                      </a:solidFill>
                      <a:prstDash val="solid"/>
                    </a:lnR>
                    <a:lnB w="28575">
                      <a:solidFill>
                        <a:srgbClr val="F7F4E9"/>
                      </a:solidFill>
                      <a:prstDash val="solid"/>
                    </a:lnB>
                    <a:solidFill>
                      <a:srgbClr val="E4EAD4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E3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Материалы + вручную</a:t>
                      </a:r>
                    </a:p>
                  </a:txBody>
                  <a:tcPr marL="91440" marR="91440" marT="45720" marB="45720">
                    <a:lnR w="28575">
                      <a:solidFill>
                        <a:srgbClr val="F7F4E9"/>
                      </a:solidFill>
                      <a:prstDash val="solid"/>
                    </a:lnR>
                    <a:lnB w="28575">
                      <a:solidFill>
                        <a:srgbClr val="F7F4E9"/>
                      </a:solidFill>
                      <a:prstDash val="solid"/>
                    </a:lnB>
                    <a:solidFill>
                      <a:srgbClr val="E4EAD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6739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4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8F5FA3-E297-4D66-8A5E-9AFD4C4D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001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11A4D3E-8F1A-418D-8241-B442D28F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1476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ПЧЁЛКА  /  ВЫВОД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E847850E-4531-4CB3-A59D-BC7E5572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4000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27 / 39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7027FB-AE0C-4427-9700-BEE9C15D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4488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836B0DC9-156D-43F7-8B41-83379F0E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6393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КОНЦЕПТ ДЛЯ РСХБ.ЦИФРА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F79D41C4-D965-4E9F-B42F-CE964435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9639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ПЧЁЛКА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7CC21221-A228-4B98-9AA8-FB371BF3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16287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675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675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675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675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675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675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675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675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675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675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675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pPr>
            <a:r>
              <a:rPr sz="675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rPr>
              <a:t>Ценность — в переходе</a:t>
            </a:r>
          </a:p>
          <a:p xmlns:a="http://schemas.openxmlformats.org/drawingml/2006/main">
            <a:pPr algn="l">
              <a:defRPr sz="675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pPr>
            <a:r>
              <a:rPr sz="675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rPr>
              <a:t>от факта к результату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81B584-445B-47D8-B5B2-6EBFB69E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524500"/>
            <a:ext cx="1047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BD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ABE1AF1B-31CF-4E9A-BCF2-CCA266547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153150"/>
            <a:ext cx="15525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2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2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2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2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2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2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2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2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2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2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322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Собрать сведения → проверить → написать →</a:t>
            </a:r>
          </a:p>
          <a:p xmlns:a="http://schemas.openxmlformats.org/drawingml/2006/main">
            <a:pPr algn="l">
              <a:defRPr sz="32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322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получить карточку, которую можно использовать.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20112050-BF77-4DC9-9530-EDEA01C0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8201025"/>
            <a:ext cx="1543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657568"/>
                </a:solidFill>
                <a:latin typeface="DejaVu Sans"/>
                <a:ea typeface="DejaVu Sans"/>
                <a:cs typeface="DejaVu Sans"/>
              </a:rPr>
              <a:t>Пчёлка связывает эти действия в один сценарий и оставляет окончательное решение человеку.</a:t>
            </a:r>
          </a:p>
        </p:txBody>
      </p:sp>
    </p:spTree>
    <p:extLst>
      <p:ext uri="{BB962C8B-B14F-4D97-AF65-F5344CB8AC3E}">
        <p14:creationId xmlns:p14="http://schemas.microsoft.com/office/powerpoint/2010/main" val="55922004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4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7F2CDA-F702-45CF-AEA6-79588D042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001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5D0AD3B-CD69-40FA-AC89-366A8F38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1476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ПЧЁЛКА  /  SWOT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C0EFB400-D3B8-428E-8D92-E3CDF063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4000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28 / 39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2CC4D8-13F7-45BB-A164-51D114D6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4488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083A0ABC-BB58-427B-9D20-8AC16EE0B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6393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КОНЦЕПТ ДЛЯ РСХБ.ЦИФРА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C7E0D63E-7E0B-4480-A99F-437E81F4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9639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ПЧЁЛКА</a:t>
            </a:r>
          </a:p>
        </p:txBody>
      </p:sp>
      <p:sp>
        <p:nvSpPr>
          <p:cNvPr id="7" name="heading">
            <a:extLst xmlns:a="http://schemas.openxmlformats.org/drawingml/2006/main">
              <a:ext uri="{FF2B5EF4-FFF2-40B4-BE49-F238E27FC236}">
                <a16:creationId xmlns:a16="http://schemas.microsoft.com/office/drawing/2014/main" id="{87739687-C144-42B7-B8CF-4D80AED72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00150"/>
            <a:ext cx="166116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pPr>
            <a:r>
              <a: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rPr>
              <a:t>Сильные стороны и ограничения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C9FC12-462C-40A0-A69B-A66235BD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8096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01F8D45B-25E0-49C9-8B96-4B5134C2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86125"/>
            <a:ext cx="7572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S · Сильные стороны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0563F945-063E-4D85-9850-5891D335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010025"/>
            <a:ext cx="7572375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Локальная обработка. Пошаговая работа. Источники сведений. HTML без платных ключей.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FFEF86-71B5-4A45-B0E0-33DB646B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048000"/>
            <a:ext cx="8096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9E707D78-06BD-4C38-A168-F6D12418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286125"/>
            <a:ext cx="7572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W · Слабые стороны</a:t>
            </a:r>
          </a:p>
        </p:txBody>
      </p:sp>
      <p:sp>
        <p:nvSpPr>
          <p:cNvPr id="13" name="body">
            <a:extLst xmlns:a="http://schemas.openxmlformats.org/drawingml/2006/main">
              <a:ext uri="{FF2B5EF4-FFF2-40B4-BE49-F238E27FC236}">
                <a16:creationId xmlns:a16="http://schemas.microsoft.com/office/drawing/2014/main" id="{2743A6CF-F3FD-4BFE-9D58-8F4B6A96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10025"/>
            <a:ext cx="7572375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Требования WebGPU. Неполное покрытие товаров. Локальное хранение и мягкая квота.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4B2B22-D385-4534-A58F-542CA369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43575"/>
            <a:ext cx="8096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26F5B819-0514-49EE-899E-17E2A820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981700"/>
            <a:ext cx="7572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O · Возможности</a:t>
            </a:r>
          </a:p>
        </p:txBody>
      </p:sp>
      <p:sp>
        <p:nvSpPr>
          <p:cNvPr id="16" name="body">
            <a:extLst xmlns:a="http://schemas.openxmlformats.org/drawingml/2006/main">
              <a:ext uri="{FF2B5EF4-FFF2-40B4-BE49-F238E27FC236}">
                <a16:creationId xmlns:a16="http://schemas.microsoft.com/office/drawing/2014/main" id="{E1F0C8E3-7E40-4913-ABFB-46015E98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705600"/>
            <a:ext cx="7572375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Отраслевые профили. Общий каталог организации. Интеграция в инструменты продавца.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5BDCF3-3A8F-416E-BDD8-A0B29E901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743575"/>
            <a:ext cx="8096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ody">
            <a:extLst xmlns:a="http://schemas.openxmlformats.org/drawingml/2006/main">
              <a:ext uri="{FF2B5EF4-FFF2-40B4-BE49-F238E27FC236}">
                <a16:creationId xmlns:a16="http://schemas.microsoft.com/office/drawing/2014/main" id="{2F04EE8F-A2AB-4272-992E-A7358783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981700"/>
            <a:ext cx="7572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T · Угрозы</a:t>
            </a:r>
          </a:p>
        </p:txBody>
      </p:sp>
      <p:sp>
        <p:nvSpPr>
          <p:cNvPr id="19" name="body">
            <a:extLst xmlns:a="http://schemas.openxmlformats.org/drawingml/2006/main">
              <a:ext uri="{FF2B5EF4-FFF2-40B4-BE49-F238E27FC236}">
                <a16:creationId xmlns:a16="http://schemas.microsoft.com/office/drawing/2014/main" id="{BC618BDF-8641-4A13-8736-A99F6A5E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6705600"/>
            <a:ext cx="7572375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Ошибки модели и базы. Изменение правил площадок. Несовместимость устройств и редакторов.</a:t>
            </a:r>
          </a:p>
        </p:txBody>
      </p:sp>
    </p:spTree>
    <p:extLst>
      <p:ext uri="{BB962C8B-B14F-4D97-AF65-F5344CB8AC3E}">
        <p14:creationId xmlns:p14="http://schemas.microsoft.com/office/powerpoint/2010/main" val="33938724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4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24488D-3EAF-469D-ABA5-38D19962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001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326F33D-BE78-48CE-BD98-5791E368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1476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ПЧЁЛКА  /  КОНТРМЕРЫ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496DE995-CB53-4C1F-895B-DDDA3A1A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4000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29 / 39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D0F705-61D7-4A8E-ABF5-12E18C26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4488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CC8316A3-AD45-4BD5-8466-B0BA89C75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6393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КОНЦЕПТ ДЛЯ РСХБ.ЦИФРА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E45BA469-351B-45EC-8EBB-680580CD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9639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ПЧЁЛКА</a:t>
            </a:r>
          </a:p>
        </p:txBody>
      </p:sp>
      <p:sp>
        <p:nvSpPr>
          <p:cNvPr id="7" name="heading">
            <a:extLst xmlns:a="http://schemas.openxmlformats.org/drawingml/2006/main">
              <a:ext uri="{FF2B5EF4-FFF2-40B4-BE49-F238E27FC236}">
                <a16:creationId xmlns:a16="http://schemas.microsoft.com/office/drawing/2014/main" id="{577714D0-F056-46C3-BBD9-3E8BDF0C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00150"/>
            <a:ext cx="166116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pPr>
            <a:r>
              <a: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rPr>
              <a:t>Не скрывать ограничения — обходить их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5FDB13FC-915D-4E4B-856C-DACAC3F2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24900"/>
            <a:ext cx="16611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rPr>
              <a:t>Контроль текста снижает риск, но не гарантирует отсутствия всех ошибок генерации.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7BEB0DD4-6383-43D9-9E37-0839BE2E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16478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Сервис должен помогать продолжить работу даже при недоступности модели или источника.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3341C5-4786-45EC-8A17-4BB000AEB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7972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CD1EB349-589D-42ED-B485-2D2EE447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43450"/>
            <a:ext cx="79724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Достоверность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F3C6BFC6-D648-416F-A94F-C48172EC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67350"/>
            <a:ext cx="7972425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Подтверждение совпадения. Пустые неизвестные поля. Проверка новых чисел и обещаний. Ручной просмотр.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12210F-F504-446A-BD04-6363905E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476750"/>
            <a:ext cx="7972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063A7E67-7F25-4EB5-8F6C-510B6D1D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743450"/>
            <a:ext cx="79724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Доступность и перенос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887B7113-A3B6-4EE7-B188-D2525EC7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467350"/>
            <a:ext cx="7972425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Шаблон без GPU. Редактирование всех полей. Готовый файл вместо сложной интеграции. Резервная копия каталога.</a:t>
            </a:r>
          </a:p>
        </p:txBody>
      </p:sp>
    </p:spTree>
    <p:extLst>
      <p:ext uri="{BB962C8B-B14F-4D97-AF65-F5344CB8AC3E}">
        <p14:creationId xmlns:p14="http://schemas.microsoft.com/office/powerpoint/2010/main" val="74122142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4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2C27A7-CB25-48B1-9458-D9AF8B628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001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60F6276-E1A6-4DE5-BA62-D27A04A4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1476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ПЧЁЛКА  /  ПРОЦЕСС AS IS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AC8AC42C-BB96-413F-9003-5013075C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4000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30 / 39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220DA2-58B3-444A-BF74-96124C01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4488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4E6CBD81-80EC-42ED-9878-FBF16AABB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6393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КОНЦЕПТ ДЛЯ РСХБ.ЦИФРА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B7B4C2DA-9C67-4B8F-AB3B-5F80E483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9639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ПЧЁЛКА</a:t>
            </a:r>
          </a:p>
        </p:txBody>
      </p:sp>
      <p:sp>
        <p:nvSpPr>
          <p:cNvPr id="7" name="heading">
            <a:extLst xmlns:a="http://schemas.openxmlformats.org/drawingml/2006/main">
              <a:ext uri="{FF2B5EF4-FFF2-40B4-BE49-F238E27FC236}">
                <a16:creationId xmlns:a16="http://schemas.microsoft.com/office/drawing/2014/main" id="{9FAFEDBF-6F30-446C-A5C7-347E8BF8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00150"/>
            <a:ext cx="166116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pPr>
            <a:r>
              <a: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rPr>
              <a:t>Повторять подготовку для каждого канала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D9CAB240-9560-44BE-8550-3C662C70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24900"/>
            <a:ext cx="16611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rPr>
              <a:t>Базовый сценарий для замера. Время и частота ошибок пока неизвестны.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4D9C1991-B229-4DF3-A991-F70F50A4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39147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pPr>
            <a:r>
              <a: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657628-6069-4C04-83ED-F84A717C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95875"/>
            <a:ext cx="39147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AF9F43B0-BD6C-4CB4-B705-32BB67880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95925"/>
            <a:ext cx="39147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pPr>
            <a:r>
              <a: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rPr>
              <a:t>Найти данные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1F929E1D-6A3B-433A-A0B7-7E8AA555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00800"/>
            <a:ext cx="39147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Упаковка, заметки,</a:t>
            </a:r>
          </a:p>
          <a:p xmlns:a="http://schemas.openxmlformats.org/drawingml/2006/main">
            <a: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описания поставщика.</a:t>
            </a:r>
          </a:p>
        </p:txBody>
      </p:sp>
      <p:sp>
        <p:nvSpPr>
          <p:cNvPr id="13" name="body">
            <a:extLst xmlns:a="http://schemas.openxmlformats.org/drawingml/2006/main">
              <a:ext uri="{FF2B5EF4-FFF2-40B4-BE49-F238E27FC236}">
                <a16:creationId xmlns:a16="http://schemas.microsoft.com/office/drawing/2014/main" id="{E4B5C689-5F88-46B0-8E2B-FA3F360C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400675"/>
            <a:ext cx="361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→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CCDE5186-D7CF-490B-9856-B7EFAA7E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638550"/>
            <a:ext cx="39147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pPr>
            <a:r>
              <a: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318225-5B96-43EB-86A3-8AC2B68B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5095875"/>
            <a:ext cx="39147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ody">
            <a:extLst xmlns:a="http://schemas.openxmlformats.org/drawingml/2006/main">
              <a:ext uri="{FF2B5EF4-FFF2-40B4-BE49-F238E27FC236}">
                <a16:creationId xmlns:a16="http://schemas.microsoft.com/office/drawing/2014/main" id="{C541BAA9-FE07-4B84-B2AF-6CD7BDA2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5495925"/>
            <a:ext cx="39147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pPr>
            <a:r>
              <a: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rPr>
              <a:t>Написать</a:t>
            </a:r>
          </a:p>
        </p:txBody>
      </p:sp>
      <p:sp>
        <p:nvSpPr>
          <p:cNvPr id="17" name="body">
            <a:extLst xmlns:a="http://schemas.openxmlformats.org/drawingml/2006/main">
              <a:ext uri="{FF2B5EF4-FFF2-40B4-BE49-F238E27FC236}">
                <a16:creationId xmlns:a16="http://schemas.microsoft.com/office/drawing/2014/main" id="{79D52190-A879-4339-ADB7-513093B2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6400800"/>
            <a:ext cx="39147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Составить текст</a:t>
            </a:r>
          </a:p>
          <a:p xmlns:a="http://schemas.openxmlformats.org/drawingml/2006/main">
            <a: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и проверить факты.</a:t>
            </a:r>
          </a:p>
        </p:txBody>
      </p:sp>
      <p:sp>
        <p:nvSpPr>
          <p:cNvPr id="18" name="body">
            <a:extLst xmlns:a="http://schemas.openxmlformats.org/drawingml/2006/main">
              <a:ext uri="{FF2B5EF4-FFF2-40B4-BE49-F238E27FC236}">
                <a16:creationId xmlns:a16="http://schemas.microsoft.com/office/drawing/2014/main" id="{90302F9B-97EF-49BA-8954-66AA0BCF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400675"/>
            <a:ext cx="361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→</a:t>
            </a:r>
          </a:p>
        </p:txBody>
      </p:sp>
      <p:sp>
        <p:nvSpPr>
          <p:cNvPr id="19" name="body">
            <a:extLst xmlns:a="http://schemas.openxmlformats.org/drawingml/2006/main">
              <a:ext uri="{FF2B5EF4-FFF2-40B4-BE49-F238E27FC236}">
                <a16:creationId xmlns:a16="http://schemas.microsoft.com/office/drawing/2014/main" id="{CDFDC4FB-3B50-48CA-B42F-CFB12AB6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638550"/>
            <a:ext cx="39147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pPr>
            <a:r>
              <a: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939F78-A181-4AC5-9A84-279AAFC5F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095875"/>
            <a:ext cx="39147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ody">
            <a:extLst xmlns:a="http://schemas.openxmlformats.org/drawingml/2006/main">
              <a:ext uri="{FF2B5EF4-FFF2-40B4-BE49-F238E27FC236}">
                <a16:creationId xmlns:a16="http://schemas.microsoft.com/office/drawing/2014/main" id="{69463AE6-35E4-4EB4-9E4C-CFE4E7B21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495925"/>
            <a:ext cx="39147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pPr>
            <a:r>
              <a: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rPr>
              <a:t>Собрать</a:t>
            </a:r>
          </a:p>
        </p:txBody>
      </p:sp>
      <p:sp>
        <p:nvSpPr>
          <p:cNvPr id="22" name="body">
            <a:extLst xmlns:a="http://schemas.openxmlformats.org/drawingml/2006/main">
              <a:ext uri="{FF2B5EF4-FFF2-40B4-BE49-F238E27FC236}">
                <a16:creationId xmlns:a16="http://schemas.microsoft.com/office/drawing/2014/main" id="{BCBCFD6A-B856-4F62-846E-39CEDAFD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6400800"/>
            <a:ext cx="39147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Подготовить фото</a:t>
            </a:r>
          </a:p>
          <a:p xmlns:a="http://schemas.openxmlformats.org/drawingml/2006/main">
            <a: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и оформление сайта.</a:t>
            </a:r>
          </a:p>
        </p:txBody>
      </p:sp>
      <p:sp>
        <p:nvSpPr>
          <p:cNvPr id="23" name="body">
            <a:extLst xmlns:a="http://schemas.openxmlformats.org/drawingml/2006/main">
              <a:ext uri="{FF2B5EF4-FFF2-40B4-BE49-F238E27FC236}">
                <a16:creationId xmlns:a16="http://schemas.microsoft.com/office/drawing/2014/main" id="{ACAB9601-2950-48E3-A5A9-D2EC01CE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5400675"/>
            <a:ext cx="361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→</a:t>
            </a:r>
          </a:p>
        </p:txBody>
      </p:sp>
      <p:sp>
        <p:nvSpPr>
          <p:cNvPr id="24" name="body">
            <a:extLst xmlns:a="http://schemas.openxmlformats.org/drawingml/2006/main">
              <a:ext uri="{FF2B5EF4-FFF2-40B4-BE49-F238E27FC236}">
                <a16:creationId xmlns:a16="http://schemas.microsoft.com/office/drawing/2014/main" id="{D74BCA01-E12D-445F-B566-DD128803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4075" y="3638550"/>
            <a:ext cx="39147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defRPr>
            </a:pPr>
            <a:r>
              <a:rPr sz="7050" b="0">
                <a:solidFill>
                  <a:srgbClr val="657568"/>
                </a:solidFill>
                <a:latin typeface="DejaVu Serif"/>
                <a:ea typeface="DejaVu Serif"/>
                <a:cs typeface="DejaVu Serif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D3C80E-E3B7-4DE2-BFAC-F0A875BD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4075" y="5095875"/>
            <a:ext cx="39147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ody">
            <a:extLst xmlns:a="http://schemas.openxmlformats.org/drawingml/2006/main">
              <a:ext uri="{FF2B5EF4-FFF2-40B4-BE49-F238E27FC236}">
                <a16:creationId xmlns:a16="http://schemas.microsoft.com/office/drawing/2014/main" id="{49FC45D2-F933-4358-B305-C9BE71B5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4075" y="5495925"/>
            <a:ext cx="39147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pPr>
            <a:r>
              <a:rPr sz="30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rPr>
              <a:t>Повторить</a:t>
            </a:r>
          </a:p>
        </p:txBody>
      </p:sp>
      <p:sp>
        <p:nvSpPr>
          <p:cNvPr id="27" name="body">
            <a:extLst xmlns:a="http://schemas.openxmlformats.org/drawingml/2006/main">
              <a:ext uri="{FF2B5EF4-FFF2-40B4-BE49-F238E27FC236}">
                <a16:creationId xmlns:a16="http://schemas.microsoft.com/office/drawing/2014/main" id="{C7524096-B3D4-4919-8734-C7E57A09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4075" y="6400800"/>
            <a:ext cx="39147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Перенести материалы</a:t>
            </a:r>
          </a:p>
          <a:p xmlns:a="http://schemas.openxmlformats.org/drawingml/2006/main">
            <a:pPr algn="l">
              <a:def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в каждый канал.</a:t>
            </a:r>
          </a:p>
        </p:txBody>
      </p:sp>
    </p:spTree>
    <p:extLst>
      <p:ext uri="{BB962C8B-B14F-4D97-AF65-F5344CB8AC3E}">
        <p14:creationId xmlns:p14="http://schemas.microsoft.com/office/powerpoint/2010/main" val="198975042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193E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541230-9F77-4CE2-9B4D-E04DB9C8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001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2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41813BF-0EAD-4D88-BC8B-49784D29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1476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7F4E9"/>
                </a:solidFill>
                <a:latin typeface="DejaVu Sans"/>
                <a:ea typeface="DejaVu Sans"/>
                <a:cs typeface="DejaVu Sans"/>
              </a:rPr>
              <a:t>ПЧЁЛКА  /  ПРОЦЕСС TO BE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F5981168-0D04-4425-84B3-B5B156B7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4000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7F4E9"/>
                </a:solidFill>
                <a:latin typeface="DejaVu Sans"/>
                <a:ea typeface="DejaVu Sans"/>
                <a:cs typeface="DejaVu Sans"/>
              </a:rPr>
              <a:t>31 / 39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7CC4E1-174C-46EC-A2D3-8D5E2205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4488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2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FE154983-2306-4DF1-AA35-FB5C2395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6393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7F4E9"/>
                </a:solidFill>
                <a:latin typeface="DejaVu Sans"/>
                <a:ea typeface="DejaVu Sans"/>
                <a:cs typeface="DejaVu Sans"/>
              </a:rPr>
              <a:t>КОНЦЕПТ ДЛЯ РСХБ.ЦИФРА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29276E3A-93B2-417D-B5D5-848DF10F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9639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7F4E9"/>
                </a:solidFill>
                <a:latin typeface="DejaVu Sans"/>
                <a:ea typeface="DejaVu Sans"/>
                <a:cs typeface="DejaVu Sans"/>
              </a:rPr>
              <a:t>ПЧЁЛКА</a:t>
            </a:r>
          </a:p>
        </p:txBody>
      </p:sp>
      <p:sp>
        <p:nvSpPr>
          <p:cNvPr id="7" name="heading">
            <a:extLst xmlns:a="http://schemas.openxmlformats.org/drawingml/2006/main">
              <a:ext uri="{FF2B5EF4-FFF2-40B4-BE49-F238E27FC236}">
                <a16:creationId xmlns:a16="http://schemas.microsoft.com/office/drawing/2014/main" id="{5BEBB740-3E85-4541-B195-32E23E35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00150"/>
            <a:ext cx="166116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8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48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48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48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48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48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48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48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48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48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48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pPr>
            <a:r>
              <a:rPr sz="48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rPr>
              <a:t>Подтвердить один раз. Использовать дальше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9F19E8DC-A9E6-4C62-8BD9-29C5E61E3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24900"/>
            <a:ext cx="16611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E4EAD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>
                <a:solidFill>
                  <a:srgbClr val="E4EAD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>
                <a:solidFill>
                  <a:srgbClr val="E4EAD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>
                <a:solidFill>
                  <a:srgbClr val="E4EAD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>
                <a:solidFill>
                  <a:srgbClr val="E4EAD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>
                <a:solidFill>
                  <a:srgbClr val="E4EAD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>
                <a:solidFill>
                  <a:srgbClr val="E4EAD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>
                <a:solidFill>
                  <a:srgbClr val="E4EAD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>
                <a:solidFill>
                  <a:srgbClr val="E4EAD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>
                <a:solidFill>
                  <a:srgbClr val="E4EAD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E4EAD4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E4EAD4"/>
                </a:solidFill>
                <a:latin typeface="DejaVu Sans"/>
                <a:ea typeface="DejaVu Sans"/>
                <a:cs typeface="DejaVu Sans"/>
              </a:rPr>
              <a:t>Цель повторного сценария — 3 минуты. Отдельная публикация на внешней площадке в это время не включена.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93197394-8B50-4AC6-9375-B2C811C3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39147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050" b="0">
                <a:solidFill>
                  <a:srgbClr val="E7BD58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7050" b="0">
                <a:solidFill>
                  <a:srgbClr val="E7BD58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7050" b="0">
                <a:solidFill>
                  <a:srgbClr val="E7BD58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7050" b="0">
                <a:solidFill>
                  <a:srgbClr val="E7BD58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7050" b="0">
                <a:solidFill>
                  <a:srgbClr val="E7BD58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7050" b="0">
                <a:solidFill>
                  <a:srgbClr val="E7BD58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7050" b="0">
                <a:solidFill>
                  <a:srgbClr val="E7BD58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7050" b="0">
                <a:solidFill>
                  <a:srgbClr val="E7BD58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7050" b="0">
                <a:solidFill>
                  <a:srgbClr val="E7BD58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7050" b="0">
                <a:solidFill>
                  <a:srgbClr val="E7BD58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7050" b="0">
                <a:solidFill>
                  <a:srgbClr val="E7BD58"/>
                </a:solidFill>
                <a:latin typeface="DejaVu Serif"/>
                <a:ea typeface="DejaVu Serif"/>
                <a:cs typeface="DejaVu Serif"/>
              </a:defRPr>
            </a:pPr>
            <a:r>
              <a:rPr sz="7050" b="0">
                <a:solidFill>
                  <a:srgbClr val="E7BD58"/>
                </a:solidFill>
                <a:latin typeface="DejaVu Serif"/>
                <a:ea typeface="DejaVu Serif"/>
                <a:cs typeface="DejaVu Serif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CD0921-0282-477B-B184-97C5A488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95875"/>
            <a:ext cx="39147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2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0F2B9C48-7729-473E-A466-10439F81B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95925"/>
            <a:ext cx="39147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30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30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30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30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30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30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30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30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30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pPr>
            <a:r>
              <a:rPr sz="30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rPr>
              <a:t>Загрузить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4124664E-6ABB-49F9-9B3F-12909DE0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00800"/>
            <a:ext cx="39147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32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32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32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32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32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32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32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32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32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F7F4E9"/>
                </a:solidFill>
                <a:latin typeface="DejaVu Sans"/>
                <a:ea typeface="DejaVu Sans"/>
                <a:cs typeface="DejaVu Sans"/>
              </a:rPr>
              <a:t>Фото, голос</a:t>
            </a:r>
          </a:p>
          <a:p xmlns:a="http://schemas.openxmlformats.org/drawingml/2006/main">
            <a:pPr algn="l">
              <a:defRPr sz="232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F7F4E9"/>
                </a:solidFill>
                <a:latin typeface="DejaVu Sans"/>
                <a:ea typeface="DejaVu Sans"/>
                <a:cs typeface="DejaVu Sans"/>
              </a:rPr>
              <a:t>или штрихкод.</a:t>
            </a:r>
          </a:p>
        </p:txBody>
      </p:sp>
      <p:sp>
        <p:nvSpPr>
          <p:cNvPr id="13" name="body">
            <a:extLst xmlns:a="http://schemas.openxmlformats.org/drawingml/2006/main">
              <a:ext uri="{FF2B5EF4-FFF2-40B4-BE49-F238E27FC236}">
                <a16:creationId xmlns:a16="http://schemas.microsoft.com/office/drawing/2014/main" id="{99B9B690-7D5A-43EB-8F1F-A36D2077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400675"/>
            <a:ext cx="361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475" b="0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475" b="0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475" b="0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475" b="0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475" b="0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475" b="0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475" b="0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475" b="0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475" b="0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E7BD58"/>
                </a:solidFill>
                <a:latin typeface="DejaVu Sans"/>
                <a:ea typeface="DejaVu Sans"/>
                <a:cs typeface="DejaVu Sans"/>
              </a:rPr>
              <a:t>→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82F10E85-5EE1-4946-8F29-1108A7C0B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638550"/>
            <a:ext cx="39147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050" b="0">
                <a:solidFill>
                  <a:srgbClr val="E7BD58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7050" b="0">
                <a:solidFill>
                  <a:srgbClr val="E7BD58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7050" b="0">
                <a:solidFill>
                  <a:srgbClr val="E7BD58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7050" b="0">
                <a:solidFill>
                  <a:srgbClr val="E7BD58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7050" b="0">
                <a:solidFill>
                  <a:srgbClr val="E7BD58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7050" b="0">
                <a:solidFill>
                  <a:srgbClr val="E7BD58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7050" b="0">
                <a:solidFill>
                  <a:srgbClr val="E7BD58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7050" b="0">
                <a:solidFill>
                  <a:srgbClr val="E7BD58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7050" b="0">
                <a:solidFill>
                  <a:srgbClr val="E7BD58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7050" b="0">
                <a:solidFill>
                  <a:srgbClr val="E7BD58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7050" b="0">
                <a:solidFill>
                  <a:srgbClr val="E7BD58"/>
                </a:solidFill>
                <a:latin typeface="DejaVu Serif"/>
                <a:ea typeface="DejaVu Serif"/>
                <a:cs typeface="DejaVu Serif"/>
              </a:defRPr>
            </a:pPr>
            <a:r>
              <a:rPr sz="7050" b="0">
                <a:solidFill>
                  <a:srgbClr val="E7BD58"/>
                </a:solidFill>
                <a:latin typeface="DejaVu Serif"/>
                <a:ea typeface="DejaVu Serif"/>
                <a:cs typeface="DejaVu Serif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514770-97B6-4B96-8025-8FCC7E0E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5095875"/>
            <a:ext cx="39147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2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ody">
            <a:extLst xmlns:a="http://schemas.openxmlformats.org/drawingml/2006/main">
              <a:ext uri="{FF2B5EF4-FFF2-40B4-BE49-F238E27FC236}">
                <a16:creationId xmlns:a16="http://schemas.microsoft.com/office/drawing/2014/main" id="{22AE0E64-ECC5-493A-9F25-4F3D64558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5495925"/>
            <a:ext cx="39147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30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30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30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30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30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30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30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30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30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pPr>
            <a:r>
              <a:rPr sz="30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rPr>
              <a:t>Проверить</a:t>
            </a:r>
          </a:p>
        </p:txBody>
      </p:sp>
      <p:sp>
        <p:nvSpPr>
          <p:cNvPr id="17" name="body">
            <a:extLst xmlns:a="http://schemas.openxmlformats.org/drawingml/2006/main">
              <a:ext uri="{FF2B5EF4-FFF2-40B4-BE49-F238E27FC236}">
                <a16:creationId xmlns:a16="http://schemas.microsoft.com/office/drawing/2014/main" id="{B7EE1590-4E23-42F9-AC01-1B9D6B87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6400800"/>
            <a:ext cx="39147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32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32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32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32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32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32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32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32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32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F7F4E9"/>
                </a:solidFill>
                <a:latin typeface="DejaVu Sans"/>
                <a:ea typeface="DejaVu Sans"/>
                <a:cs typeface="DejaVu Sans"/>
              </a:rPr>
              <a:t>Принять факты</a:t>
            </a:r>
          </a:p>
          <a:p xmlns:a="http://schemas.openxmlformats.org/drawingml/2006/main">
            <a:pPr algn="l">
              <a:defRPr sz="232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F7F4E9"/>
                </a:solidFill>
                <a:latin typeface="DejaVu Sans"/>
                <a:ea typeface="DejaVu Sans"/>
                <a:cs typeface="DejaVu Sans"/>
              </a:rPr>
              <a:t>и дописать пробелы.</a:t>
            </a:r>
          </a:p>
        </p:txBody>
      </p:sp>
      <p:sp>
        <p:nvSpPr>
          <p:cNvPr id="18" name="body">
            <a:extLst xmlns:a="http://schemas.openxmlformats.org/drawingml/2006/main">
              <a:ext uri="{FF2B5EF4-FFF2-40B4-BE49-F238E27FC236}">
                <a16:creationId xmlns:a16="http://schemas.microsoft.com/office/drawing/2014/main" id="{B37F464E-2FF8-43F5-BD20-A1CBEA9B4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400675"/>
            <a:ext cx="361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475" b="0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475" b="0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475" b="0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475" b="0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475" b="0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475" b="0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475" b="0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475" b="0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475" b="0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E7BD58"/>
                </a:solidFill>
                <a:latin typeface="DejaVu Sans"/>
                <a:ea typeface="DejaVu Sans"/>
                <a:cs typeface="DejaVu Sans"/>
              </a:rPr>
              <a:t>→</a:t>
            </a:r>
          </a:p>
        </p:txBody>
      </p:sp>
      <p:sp>
        <p:nvSpPr>
          <p:cNvPr id="19" name="body">
            <a:extLst xmlns:a="http://schemas.openxmlformats.org/drawingml/2006/main">
              <a:ext uri="{FF2B5EF4-FFF2-40B4-BE49-F238E27FC236}">
                <a16:creationId xmlns:a16="http://schemas.microsoft.com/office/drawing/2014/main" id="{7503BFA0-243A-4110-8EED-6E95ECBFF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638550"/>
            <a:ext cx="39147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050" b="0">
                <a:solidFill>
                  <a:srgbClr val="E7BD58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7050" b="0">
                <a:solidFill>
                  <a:srgbClr val="E7BD58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7050" b="0">
                <a:solidFill>
                  <a:srgbClr val="E7BD58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7050" b="0">
                <a:solidFill>
                  <a:srgbClr val="E7BD58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7050" b="0">
                <a:solidFill>
                  <a:srgbClr val="E7BD58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7050" b="0">
                <a:solidFill>
                  <a:srgbClr val="E7BD58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7050" b="0">
                <a:solidFill>
                  <a:srgbClr val="E7BD58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7050" b="0">
                <a:solidFill>
                  <a:srgbClr val="E7BD58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7050" b="0">
                <a:solidFill>
                  <a:srgbClr val="E7BD58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7050" b="0">
                <a:solidFill>
                  <a:srgbClr val="E7BD58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7050" b="0">
                <a:solidFill>
                  <a:srgbClr val="E7BD58"/>
                </a:solidFill>
                <a:latin typeface="DejaVu Serif"/>
                <a:ea typeface="DejaVu Serif"/>
                <a:cs typeface="DejaVu Serif"/>
              </a:defRPr>
            </a:pPr>
            <a:r>
              <a:rPr sz="7050" b="0">
                <a:solidFill>
                  <a:srgbClr val="E7BD58"/>
                </a:solidFill>
                <a:latin typeface="DejaVu Serif"/>
                <a:ea typeface="DejaVu Serif"/>
                <a:cs typeface="DejaVu Serif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5A0D74-F480-485E-8D5B-69ED17FC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095875"/>
            <a:ext cx="39147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2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ody">
            <a:extLst xmlns:a="http://schemas.openxmlformats.org/drawingml/2006/main">
              <a:ext uri="{FF2B5EF4-FFF2-40B4-BE49-F238E27FC236}">
                <a16:creationId xmlns:a16="http://schemas.microsoft.com/office/drawing/2014/main" id="{0152CFCC-9A8D-4093-AA1E-3EE18D1D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495925"/>
            <a:ext cx="39147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30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30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30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30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30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30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30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30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30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pPr>
            <a:r>
              <a:rPr sz="30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rPr>
              <a:t>Оформить</a:t>
            </a:r>
          </a:p>
        </p:txBody>
      </p:sp>
      <p:sp>
        <p:nvSpPr>
          <p:cNvPr id="22" name="body">
            <a:extLst xmlns:a="http://schemas.openxmlformats.org/drawingml/2006/main">
              <a:ext uri="{FF2B5EF4-FFF2-40B4-BE49-F238E27FC236}">
                <a16:creationId xmlns:a16="http://schemas.microsoft.com/office/drawing/2014/main" id="{08276478-6971-40ED-9CFF-6FC290193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6400800"/>
            <a:ext cx="39147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32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32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32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32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32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32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32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32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32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F7F4E9"/>
                </a:solidFill>
                <a:latin typeface="DejaVu Sans"/>
                <a:ea typeface="DejaVu Sans"/>
                <a:cs typeface="DejaVu Sans"/>
              </a:rPr>
              <a:t>Улучшить текст</a:t>
            </a:r>
          </a:p>
          <a:p xmlns:a="http://schemas.openxmlformats.org/drawingml/2006/main">
            <a:pPr algn="l">
              <a:defRPr sz="232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F7F4E9"/>
                </a:solidFill>
                <a:latin typeface="DejaVu Sans"/>
                <a:ea typeface="DejaVu Sans"/>
                <a:cs typeface="DejaVu Sans"/>
              </a:rPr>
              <a:t>и выбрать главное фото.</a:t>
            </a:r>
          </a:p>
        </p:txBody>
      </p:sp>
      <p:sp>
        <p:nvSpPr>
          <p:cNvPr id="23" name="body">
            <a:extLst xmlns:a="http://schemas.openxmlformats.org/drawingml/2006/main">
              <a:ext uri="{FF2B5EF4-FFF2-40B4-BE49-F238E27FC236}">
                <a16:creationId xmlns:a16="http://schemas.microsoft.com/office/drawing/2014/main" id="{967ABFD8-5998-4262-BE97-AF01AE1E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5400675"/>
            <a:ext cx="361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475" b="0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475" b="0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475" b="0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475" b="0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475" b="0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475" b="0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475" b="0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475" b="0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475" b="0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E7BD58"/>
                </a:solidFill>
                <a:latin typeface="DejaVu Sans"/>
                <a:ea typeface="DejaVu Sans"/>
                <a:cs typeface="DejaVu Sans"/>
              </a:rPr>
              <a:t>→</a:t>
            </a:r>
          </a:p>
        </p:txBody>
      </p:sp>
      <p:sp>
        <p:nvSpPr>
          <p:cNvPr id="24" name="body">
            <a:extLst xmlns:a="http://schemas.openxmlformats.org/drawingml/2006/main">
              <a:ext uri="{FF2B5EF4-FFF2-40B4-BE49-F238E27FC236}">
                <a16:creationId xmlns:a16="http://schemas.microsoft.com/office/drawing/2014/main" id="{EEC532DA-C55A-4E53-97A2-DB5E85DA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4075" y="3638550"/>
            <a:ext cx="39147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050" b="0">
                <a:solidFill>
                  <a:srgbClr val="E7BD58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7050" b="0">
                <a:solidFill>
                  <a:srgbClr val="E7BD58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7050" b="0">
                <a:solidFill>
                  <a:srgbClr val="E7BD58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7050" b="0">
                <a:solidFill>
                  <a:srgbClr val="E7BD58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7050" b="0">
                <a:solidFill>
                  <a:srgbClr val="E7BD58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7050" b="0">
                <a:solidFill>
                  <a:srgbClr val="E7BD58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7050" b="0">
                <a:solidFill>
                  <a:srgbClr val="E7BD58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7050" b="0">
                <a:solidFill>
                  <a:srgbClr val="E7BD58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7050" b="0">
                <a:solidFill>
                  <a:srgbClr val="E7BD58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7050" b="0">
                <a:solidFill>
                  <a:srgbClr val="E7BD58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7050" b="0">
                <a:solidFill>
                  <a:srgbClr val="E7BD58"/>
                </a:solidFill>
                <a:latin typeface="DejaVu Serif"/>
                <a:ea typeface="DejaVu Serif"/>
                <a:cs typeface="DejaVu Serif"/>
              </a:defRPr>
            </a:pPr>
            <a:r>
              <a:rPr sz="7050" b="0">
                <a:solidFill>
                  <a:srgbClr val="E7BD58"/>
                </a:solidFill>
                <a:latin typeface="DejaVu Serif"/>
                <a:ea typeface="DejaVu Serif"/>
                <a:cs typeface="DejaVu Serif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11A90D-FB57-405E-A5A9-92AE34D4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4075" y="5095875"/>
            <a:ext cx="39147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2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ody">
            <a:extLst xmlns:a="http://schemas.openxmlformats.org/drawingml/2006/main">
              <a:ext uri="{FF2B5EF4-FFF2-40B4-BE49-F238E27FC236}">
                <a16:creationId xmlns:a16="http://schemas.microsoft.com/office/drawing/2014/main" id="{7B42AAC3-5173-4E8C-990B-DA8CB726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4075" y="5495925"/>
            <a:ext cx="39147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30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30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30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30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30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30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30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30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30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pPr>
            <a:r>
              <a:rPr sz="300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rPr>
              <a:t>Забрать</a:t>
            </a:r>
          </a:p>
        </p:txBody>
      </p:sp>
      <p:sp>
        <p:nvSpPr>
          <p:cNvPr id="27" name="body">
            <a:extLst xmlns:a="http://schemas.openxmlformats.org/drawingml/2006/main">
              <a:ext uri="{FF2B5EF4-FFF2-40B4-BE49-F238E27FC236}">
                <a16:creationId xmlns:a16="http://schemas.microsoft.com/office/drawing/2014/main" id="{D0804718-637D-4304-AD28-7EBC4D63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4075" y="6400800"/>
            <a:ext cx="39147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32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32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32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32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32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32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32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32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32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F7F4E9"/>
                </a:solidFill>
                <a:latin typeface="DejaVu Sans"/>
                <a:ea typeface="DejaVu Sans"/>
                <a:cs typeface="DejaVu Sans"/>
              </a:rPr>
              <a:t>HTML, витрина</a:t>
            </a:r>
          </a:p>
          <a:p xmlns:a="http://schemas.openxmlformats.org/drawingml/2006/main">
            <a:pPr algn="l">
              <a:defRPr sz="232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F7F4E9"/>
                </a:solidFill>
                <a:latin typeface="DejaVu Sans"/>
                <a:ea typeface="DejaVu Sans"/>
                <a:cs typeface="DejaVu Sans"/>
              </a:rPr>
              <a:t>или пакет объявлений.</a:t>
            </a:r>
          </a:p>
        </p:txBody>
      </p:sp>
    </p:spTree>
    <p:extLst>
      <p:ext uri="{BB962C8B-B14F-4D97-AF65-F5344CB8AC3E}">
        <p14:creationId xmlns:p14="http://schemas.microsoft.com/office/powerpoint/2010/main" val="109719275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4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B7D37C-5CC3-4E95-986E-D90BB326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001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C1B70A5-2789-4287-84C7-3B72FA69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1476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ПЧЁЛКА  /  КОНЦЕПЦИЯ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0B4BD1BD-8E91-4E2A-B030-11C1BAEA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4000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32 / 39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061017-4778-4B57-BBBF-242195B9F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4488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608C3148-8960-41A2-9280-A79C095F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6393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КОНЦЕПТ ДЛЯ РСХБ.ЦИФРА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7F5BE681-6E49-4BB0-A445-C50C574B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9639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ПЧЁЛКА</a:t>
            </a:r>
          </a:p>
        </p:txBody>
      </p:sp>
      <p:sp>
        <p:nvSpPr>
          <p:cNvPr id="7" name="heading">
            <a:extLst xmlns:a="http://schemas.openxmlformats.org/drawingml/2006/main">
              <a:ext uri="{FF2B5EF4-FFF2-40B4-BE49-F238E27FC236}">
                <a16:creationId xmlns:a16="http://schemas.microsoft.com/office/drawing/2014/main" id="{87030AC9-9B69-4567-9C9B-74776313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00150"/>
            <a:ext cx="166116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pPr>
            <a:r>
              <a: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rPr>
              <a:t>Результат можно сразу забрать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6A8D8A95-5A7D-4AB5-AC08-7A8B99AC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24900"/>
            <a:ext cx="16611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rPr>
              <a:t>Экспорт не содержит корзины и приёма оплаты. Совместимость с конкретной CMS проверяется отдельно.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9CA593B4-DF04-4D27-8441-255A3606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9925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Не только структура данных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C711B694-E9EF-4F67-B5EB-EBCA5095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33825"/>
            <a:ext cx="59055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Редактируемое название, описание, цвет, главное фото, цена и ссылка. Рядом — вид карточки.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425789E5-575D-41C3-A454-6C7347E2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4835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Без повторной вёрстки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9A1067D0-2FA4-4560-B899-E46404DB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59055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HTML содержит оформление и фотографии. Можно скачать файл или вставить блок в редактор сайта.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9E4C18-8D13-4547-B547-599FB78B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705100"/>
            <a:ext cx="10172700" cy="584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AD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DF5240-F20C-4FDE-A23B-FD009FB4A2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310385f3924401"/>
          <a:stretch xmlns:a="http://schemas.openxmlformats.org/drawingml/2006/main"/>
        </p:blipFill>
        <p:spPr>
          <a:xfrm xmlns:a="http://schemas.openxmlformats.org/drawingml/2006/main">
            <a:off x="8305965" y="2828925"/>
            <a:ext cx="8153071" cy="5600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54460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4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B5A3CF-C536-4F8A-A78A-FEBADC62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001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20C8546-76FE-448A-BB86-6C52DA37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1476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ПЧЁЛКА  /  ОСНОВНОЙ СЦЕНАРИЙ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C225A9F1-5B78-4763-9919-A54117946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4000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33 / 39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F6603F-5CC4-4242-A6B5-7402F163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4488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91D1F592-D223-4A9A-8E2D-13502634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6393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КОНЦЕПТ ДЛЯ РСХБ.ЦИФРА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681F26C4-2CB2-453E-B37F-F59591E2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9639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ПЧЁЛКА</a:t>
            </a:r>
          </a:p>
        </p:txBody>
      </p:sp>
      <p:sp>
        <p:nvSpPr>
          <p:cNvPr id="7" name="heading">
            <a:extLst xmlns:a="http://schemas.openxmlformats.org/drawingml/2006/main">
              <a:ext uri="{FF2B5EF4-FFF2-40B4-BE49-F238E27FC236}">
                <a16:creationId xmlns:a16="http://schemas.microsoft.com/office/drawing/2014/main" id="{86A26418-4773-4407-B55F-5368B9AC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00150"/>
            <a:ext cx="166116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pPr>
            <a:r>
              <a: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rPr>
              <a:t>Начать помогает короткое обучение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A8F167B4-809D-4616-81B7-9FFD276E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24900"/>
            <a:ext cx="16611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rPr>
              <a:t>Туториал объясняет действия. В загрузке доступны фотографии и учебный пример; подсказки размещены рядом с шагами.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CFB35A-AD12-48A1-BD90-B3F4D73A9C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2406a873f44bdc"/>
          <a:stretch xmlns:a="http://schemas.openxmlformats.org/drawingml/2006/main"/>
        </p:blipFill>
        <p:spPr>
          <a:xfrm xmlns:a="http://schemas.openxmlformats.org/drawingml/2006/main">
            <a:off x="1281226" y="2952750"/>
            <a:ext cx="7210199" cy="4953000"/>
          </a:xfrm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484B45-CE1C-476B-B83D-EEF822059F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9c8559b9414a52"/>
          <a:stretch xmlns:a="http://schemas.openxmlformats.org/drawingml/2006/main"/>
        </p:blipFill>
        <p:spPr>
          <a:xfrm xmlns:a="http://schemas.openxmlformats.org/drawingml/2006/main">
            <a:off x="9787051" y="2952750"/>
            <a:ext cx="7210199" cy="4953000"/>
          </a:xfrm>
          <a:prstGeom xmlns:a="http://schemas.openxmlformats.org/drawingml/2006/main" prst="rect">
            <a:avLst/>
          </a:prstGeom>
        </p:spPr>
      </p:pic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6302FBF3-BA64-466E-934B-146CD9C6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24865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9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9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9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9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9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9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9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9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9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01 / Короткий туториал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30DE00FB-9D4B-4786-A71C-935F1D4F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824865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9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9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9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9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9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9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9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9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9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02 / Фотографии товара</a:t>
            </a:r>
          </a:p>
        </p:txBody>
      </p:sp>
    </p:spTree>
    <p:extLst>
      <p:ext uri="{BB962C8B-B14F-4D97-AF65-F5344CB8AC3E}">
        <p14:creationId xmlns:p14="http://schemas.microsoft.com/office/powerpoint/2010/main" val="126713181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4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AA4664-0A68-4AE7-AAD3-DE1B74CC7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001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DE44BEE-D77F-4991-BD4E-9446B5AD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1476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ПЧЁЛКА  /  ДОПОЛНИТЕЛЬНЫЕ ФУНКЦИИ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F7136D25-1E47-4119-BE2C-D1E643B1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4000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34 / 39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6141D5-227E-436F-80BC-8FEB380F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4488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BE142539-AB82-4F2F-8C8A-20635E43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6393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КОНЦЕПТ ДЛЯ РСХБ.ЦИФРА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08818664-9AF8-49ED-B404-392F372E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9639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ПЧЁЛКА</a:t>
            </a:r>
          </a:p>
        </p:txBody>
      </p:sp>
      <p:sp>
        <p:nvSpPr>
          <p:cNvPr id="7" name="heading">
            <a:extLst xmlns:a="http://schemas.openxmlformats.org/drawingml/2006/main">
              <a:ext uri="{FF2B5EF4-FFF2-40B4-BE49-F238E27FC236}">
                <a16:creationId xmlns:a16="http://schemas.microsoft.com/office/drawing/2014/main" id="{A1F015F4-143B-4A96-B940-B163144C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00150"/>
            <a:ext cx="166116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pPr>
            <a:r>
              <a: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rPr>
              <a:t>Каталог после первой карточки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27F6A7D8-1ED8-49C8-AAF1-780A5EB9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24900"/>
            <a:ext cx="16611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rPr>
              <a:t>Каталог хранится в IndexedDB этого браузера. Изменение статуса внутри Пчёлки не снимает объявление на площадке.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33D5172A-DC9B-49DA-A44F-A6B6FDA5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9925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Один, несколько или все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8AF34F10-0044-43F0-A401-DE1E0EAE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33825"/>
            <a:ext cx="59055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Поиск, фильтры, выбор товаров, витрина, материалы для каналов и ценники A4.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7F2204AD-3953-48D9-A13C-76227E16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4835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Меньше повторной работы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C1B356A2-9898-4807-96A1-5F2B2FE25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59055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Профиль продавца, варианты товара, резервная копия, ссылки на объявления и ручная отметка «Продано».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E43C3A-E0E9-4A5B-8D97-E1AEAFE6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705100"/>
            <a:ext cx="10172700" cy="584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AD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E7E4C3-B8E7-4D2E-BAE5-3EDE4774C3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9b23508205412b"/>
          <a:stretch xmlns:a="http://schemas.openxmlformats.org/drawingml/2006/main"/>
        </p:blipFill>
        <p:spPr>
          <a:xfrm xmlns:a="http://schemas.openxmlformats.org/drawingml/2006/main">
            <a:off x="8305965" y="2828925"/>
            <a:ext cx="8153071" cy="5600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69673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4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941185-26EF-4991-8F05-D5ECA326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001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074B6DE-405E-4ACE-A4BD-76590F4C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1476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ПЧЁЛКА  /  ВЫБОР ПОДХОДА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AEC44EE0-6F4A-40B8-A856-03CFF76E8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4000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35 / 39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8BD035-58A4-41FD-87A3-878C2873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4488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BD72DFE7-2670-449E-BDF9-95F41C6B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6393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КОНЦЕПТ ДЛЯ РСХБ.ЦИФРА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83406951-A63D-4C15-A625-52238A7DD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9639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ПЧЁЛКА</a:t>
            </a:r>
          </a:p>
        </p:txBody>
      </p:sp>
      <p:sp>
        <p:nvSpPr>
          <p:cNvPr id="7" name="heading">
            <a:extLst xmlns:a="http://schemas.openxmlformats.org/drawingml/2006/main">
              <a:ext uri="{FF2B5EF4-FFF2-40B4-BE49-F238E27FC236}">
                <a16:creationId xmlns:a16="http://schemas.microsoft.com/office/drawing/2014/main" id="{3D3361E2-C476-4575-A58C-3EB776E01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00150"/>
            <a:ext cx="166116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pPr>
            <a:r>
              <a: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rPr>
              <a:t>Четыре решения ради простого запуска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C0C4122B-91D4-443F-AC28-1FEBEF8F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24900"/>
            <a:ext cx="16611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rPr>
              <a:t>Компромисс прототипа: проще запуск и меньше серверной обработки, но выше требования к браузеру.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202892F6-9791-4DD0-B104-1CC8CFC0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62300"/>
            <a:ext cx="7677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Локальные модели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10B27417-09BB-4396-B9F4-6BCCBD92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86200"/>
            <a:ext cx="76771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Не требовать ключ ИИ от каждого продавца. Явно показать требования к устройству.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155D00BE-E6A9-4558-A684-5EF00A598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62300"/>
            <a:ext cx="7677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Подтверждённые сведения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656B1D04-64A0-44EC-A445-1B938384B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886200"/>
            <a:ext cx="76771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Разделить подсказку модели, найденную запись и решение человека.</a:t>
            </a:r>
          </a:p>
        </p:txBody>
      </p:sp>
      <p:sp>
        <p:nvSpPr>
          <p:cNvPr id="13" name="body">
            <a:extLst xmlns:a="http://schemas.openxmlformats.org/drawingml/2006/main">
              <a:ext uri="{FF2B5EF4-FFF2-40B4-BE49-F238E27FC236}">
                <a16:creationId xmlns:a16="http://schemas.microsoft.com/office/drawing/2014/main" id="{937C3609-3DEF-4686-BD05-16BFC55B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34050"/>
            <a:ext cx="7677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Готовый HTML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DA4834BD-B34C-4A04-9209-06181F18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76771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Дать результат для сайта без отдельной разработки карточки.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E35DA1FA-7C7C-48B9-B8B0-195F4BCD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734050"/>
            <a:ext cx="7677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Ручной выход на площадки</a:t>
            </a:r>
          </a:p>
        </p:txBody>
      </p:sp>
      <p:sp>
        <p:nvSpPr>
          <p:cNvPr id="16" name="body">
            <a:extLst xmlns:a="http://schemas.openxmlformats.org/drawingml/2006/main">
              <a:ext uri="{FF2B5EF4-FFF2-40B4-BE49-F238E27FC236}">
                <a16:creationId xmlns:a16="http://schemas.microsoft.com/office/drawing/2014/main" id="{AE23B1D6-1DBB-4809-B804-CAEE4996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57950"/>
            <a:ext cx="76771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Подготовить текст и фото без обещания недоступной автопубликации.</a:t>
            </a:r>
          </a:p>
        </p:txBody>
      </p:sp>
    </p:spTree>
    <p:extLst>
      <p:ext uri="{BB962C8B-B14F-4D97-AF65-F5344CB8AC3E}">
        <p14:creationId xmlns:p14="http://schemas.microsoft.com/office/powerpoint/2010/main" val="57242967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4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91723E-0544-4F88-BBF7-5666C462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001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54A9FAF-7099-47AC-AB5B-2F496320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1476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ПЧЁЛКА  /  ИНТЕГРАЦИИ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2A252E10-7A7D-4B04-AEF5-0AE29ABD8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4000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36 / 39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D3B6DC-093C-4E2C-A8C4-1BF1BBA9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4488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CE98E02D-3237-4A83-AAD4-E384F3CB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6393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КОНЦЕПТ ДЛЯ РСХБ.ЦИФРА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C1496F79-9D66-4192-A7AB-0AB9BE083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9639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ПЧЁЛКА</a:t>
            </a:r>
          </a:p>
        </p:txBody>
      </p:sp>
      <p:sp>
        <p:nvSpPr>
          <p:cNvPr id="7" name="heading">
            <a:extLst xmlns:a="http://schemas.openxmlformats.org/drawingml/2006/main">
              <a:ext uri="{FF2B5EF4-FFF2-40B4-BE49-F238E27FC236}">
                <a16:creationId xmlns:a16="http://schemas.microsoft.com/office/drawing/2014/main" id="{D5021C2E-94E6-42C9-BB67-EE632FCF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00150"/>
            <a:ext cx="166116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pPr>
            <a:r>
              <a: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rPr>
              <a:t>Сайт — блок. Площадки — пакет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E692D59F-D944-485C-A00B-295D332D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24900"/>
            <a:ext cx="16611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rPr>
              <a:t>OAuth, автопубликация, получение статуса модерации и синхронизация цены сейчас не реализованы.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3A2DF383-8A30-4658-A625-73FA38D4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9925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На свой сайт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61F91B0A-B164-4B1A-837D-04CA329E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33825"/>
            <a:ext cx="59055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Скопировать HTML или скачать файл. Для разработчика: Bee.check, Bee.card, Bee.html, Bee.zip, Bee.announcement.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9CD9D56B-61B4-4F96-A20C-4E52C94C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4835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Авито · Юла · VK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212F48CC-5BBC-4E59-BCBC-2BA158190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59055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Подготовить тексты и фото для выбранных товаров. Для VK можно собрать общий пост. Публикация — в аккаунте пользователя.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FE2900-9BFC-4A5A-B664-B570FB39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705100"/>
            <a:ext cx="10172700" cy="584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AD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2F13F0-35CA-47C7-9F1B-4B865A2FA6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55aa3a7cb3480c"/>
          <a:stretch xmlns:a="http://schemas.openxmlformats.org/drawingml/2006/main"/>
        </p:blipFill>
        <p:spPr>
          <a:xfrm xmlns:a="http://schemas.openxmlformats.org/drawingml/2006/main">
            <a:off x="8305965" y="2828925"/>
            <a:ext cx="8153071" cy="5600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680507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7F4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3BF719-D25D-48B7-BA60-9E711950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001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3175745-43CC-4B18-AE91-ABC788F1D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1476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ПЧЁЛКА  /  МЕТРИКИ И ПРОВЕРКА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F2286CDC-ADD6-420C-B478-6F9746C9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4000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37 / 39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D59EB2-F567-4F50-8831-554C2B34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4488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6475225F-15C6-4558-A3F1-53399327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6393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КОНЦЕПТ ДЛЯ РСХБ.ЦИФРА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04AA68C8-AC5B-42EC-8D72-3456FA3A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9639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ПЧЁЛКА</a:t>
            </a:r>
          </a:p>
        </p:txBody>
      </p:sp>
      <p:sp>
        <p:nvSpPr>
          <p:cNvPr id="7" name="heading">
            <a:extLst xmlns:a="http://schemas.openxmlformats.org/drawingml/2006/main">
              <a:ext uri="{FF2B5EF4-FFF2-40B4-BE49-F238E27FC236}">
                <a16:creationId xmlns:a16="http://schemas.microsoft.com/office/drawing/2014/main" id="{215C8787-FA46-4115-8989-E904F164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00150"/>
            <a:ext cx="166116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pPr>
            <a:r>
              <a: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rPr>
              <a:t>Что подтверждено, а что измерим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590C3214-DEAF-4155-8D73-C37472E5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24900"/>
            <a:ext cx="16611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rPr>
              <a:t>Технические тесты не доказывают коммерческий эффект и не заменяют испытания безопасности.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B460DA-9FAF-4B29-B391-E987F3844330}"/>
              </a:ext>
            </a:extLst>
          </p:cNvPr>
          <p:cNvGraphicFramePr/>
          <p:nvPr/>
        </p:nvGraphicFramePr>
        <p:xfrm>
          <a:off xmlns:a="http://schemas.openxmlformats.org/drawingml/2006/main" x="838200" y="3057525"/>
          <a:ext xmlns:a="http://schemas.openxmlformats.org/drawingml/2006/main" cx="16611600" cy="5286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24375"/>
                <a:gridCol w="5810250"/>
                <a:gridCol w="6276975"/>
              </a:tblGrid>
              <a:tr h="881063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7F4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Показатель</a:t>
                      </a:r>
                    </a:p>
                  </a:txBody>
                  <a:tcPr marL="91440" marR="91440" marT="45720" marB="45720">
                    <a:lnL w="28575">
                      <a:solidFill>
                        <a:srgbClr val="F7F4E9"/>
                      </a:solidFill>
                      <a:prstDash val="solid"/>
                    </a:lnL>
                    <a:lnR w="28575">
                      <a:solidFill>
                        <a:srgbClr val="F7F4E9"/>
                      </a:solidFill>
                      <a:prstDash val="solid"/>
                    </a:lnR>
                    <a:lnT w="28575">
                      <a:solidFill>
                        <a:srgbClr val="F7F4E9"/>
                      </a:solidFill>
                      <a:prstDash val="solid"/>
                    </a:lnT>
                    <a:lnB w="28575">
                      <a:solidFill>
                        <a:srgbClr val="F7F4E9"/>
                      </a:solidFill>
                      <a:prstDash val="solid"/>
                    </a:lnB>
                    <a:solidFill>
                      <a:srgbClr val="193E31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7F4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Состояние сейчас</a:t>
                      </a:r>
                    </a:p>
                  </a:txBody>
                  <a:tcPr marL="91440" marR="91440" marT="45720" marB="45720">
                    <a:lnR w="28575">
                      <a:solidFill>
                        <a:srgbClr val="F7F4E9"/>
                      </a:solidFill>
                      <a:prstDash val="solid"/>
                    </a:lnR>
                    <a:lnT w="28575">
                      <a:solidFill>
                        <a:srgbClr val="F7F4E9"/>
                      </a:solidFill>
                      <a:prstDash val="solid"/>
                    </a:lnT>
                    <a:lnB w="28575">
                      <a:solidFill>
                        <a:srgbClr val="F7F4E9"/>
                      </a:solidFill>
                      <a:prstDash val="solid"/>
                    </a:lnB>
                    <a:solidFill>
                      <a:srgbClr val="193E31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7F4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Следующий шаг</a:t>
                      </a:r>
                    </a:p>
                  </a:txBody>
                  <a:tcPr marL="91440" marR="91440" marT="45720" marB="45720">
                    <a:lnR w="28575">
                      <a:solidFill>
                        <a:srgbClr val="F7F4E9"/>
                      </a:solidFill>
                      <a:prstDash val="solid"/>
                    </a:lnR>
                    <a:lnT w="28575">
                      <a:solidFill>
                        <a:srgbClr val="F7F4E9"/>
                      </a:solidFill>
                      <a:prstDash val="solid"/>
                    </a:lnT>
                    <a:lnB w="28575">
                      <a:solidFill>
                        <a:srgbClr val="F7F4E9"/>
                      </a:solidFill>
                      <a:prstDash val="solid"/>
                    </a:lnB>
                    <a:solidFill>
                      <a:srgbClr val="193E31"/>
                    </a:solidFill>
                  </a:tcPr>
                </a:tc>
              </a:tr>
              <a:tr h="881063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E3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Повторная карточка ≤ 3 мин</a:t>
                      </a:r>
                    </a:p>
                  </a:txBody>
                  <a:tcPr marL="91440" marR="91440" marT="45720" marB="45720">
                    <a:lnL w="28575">
                      <a:solidFill>
                        <a:srgbClr val="F7F4E9"/>
                      </a:solidFill>
                      <a:prstDash val="solid"/>
                    </a:lnL>
                    <a:lnR w="28575">
                      <a:solidFill>
                        <a:srgbClr val="F7F4E9"/>
                      </a:solidFill>
                      <a:prstDash val="solid"/>
                    </a:lnR>
                    <a:lnB w="28575">
                      <a:solidFill>
                        <a:srgbClr val="F7F4E9"/>
                      </a:solidFill>
                      <a:prstDash val="solid"/>
                    </a:lnB>
                    <a:solidFill>
                      <a:srgbClr val="E4EAD4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E3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Цель, замера на пользователях нет</a:t>
                      </a:r>
                    </a:p>
                  </a:txBody>
                  <a:tcPr marL="91440" marR="91440" marT="45720" marB="45720">
                    <a:lnR w="28575">
                      <a:solidFill>
                        <a:srgbClr val="F7F4E9"/>
                      </a:solidFill>
                      <a:prstDash val="solid"/>
                    </a:lnR>
                    <a:lnB w="28575">
                      <a:solidFill>
                        <a:srgbClr val="F7F4E9"/>
                      </a:solidFill>
                      <a:prstDash val="solid"/>
                    </a:lnB>
                    <a:solidFill>
                      <a:srgbClr val="E4EAD4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E3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Сравнить с ручным сценарием</a:t>
                      </a:r>
                    </a:p>
                  </a:txBody>
                  <a:tcPr marL="91440" marR="91440" marT="45720" marB="45720">
                    <a:lnR w="28575">
                      <a:solidFill>
                        <a:srgbClr val="F7F4E9"/>
                      </a:solidFill>
                      <a:prstDash val="solid"/>
                    </a:lnR>
                    <a:lnB w="28575">
                      <a:solidFill>
                        <a:srgbClr val="F7F4E9"/>
                      </a:solidFill>
                      <a:prstDash val="solid"/>
                    </a:lnB>
                    <a:solidFill>
                      <a:srgbClr val="E4EAD4"/>
                    </a:solidFill>
                  </a:tcPr>
                </a:tc>
              </a:tr>
              <a:tr h="881063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E3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Функциональная проверка</a:t>
                      </a:r>
                    </a:p>
                  </a:txBody>
                  <a:tcPr marL="91440" marR="91440" marT="45720" marB="45720">
                    <a:lnL w="28575">
                      <a:solidFill>
                        <a:srgbClr val="F7F4E9"/>
                      </a:solidFill>
                      <a:prstDash val="solid"/>
                    </a:lnL>
                    <a:lnR w="28575">
                      <a:solidFill>
                        <a:srgbClr val="F7F4E9"/>
                      </a:solidFill>
                      <a:prstDash val="solid"/>
                    </a:lnR>
                    <a:lnB w="28575">
                      <a:solidFill>
                        <a:srgbClr val="F7F4E9"/>
                      </a:solidFill>
                      <a:prstDash val="solid"/>
                    </a:lnB>
                    <a:solidFill>
                      <a:srgbClr val="EDF0E3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E3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32 автоматических теста пройдены</a:t>
                      </a:r>
                    </a:p>
                  </a:txBody>
                  <a:tcPr marL="91440" marR="91440" marT="45720" marB="45720">
                    <a:lnR w="28575">
                      <a:solidFill>
                        <a:srgbClr val="F7F4E9"/>
                      </a:solidFill>
                      <a:prstDash val="solid"/>
                    </a:lnR>
                    <a:lnB w="28575">
                      <a:solidFill>
                        <a:srgbClr val="F7F4E9"/>
                      </a:solidFill>
                      <a:prstDash val="solid"/>
                    </a:lnB>
                    <a:solidFill>
                      <a:srgbClr val="EDF0E3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E3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Дополнить сценариями пилота</a:t>
                      </a:r>
                    </a:p>
                  </a:txBody>
                  <a:tcPr marL="91440" marR="91440" marT="45720" marB="45720">
                    <a:lnR w="28575">
                      <a:solidFill>
                        <a:srgbClr val="F7F4E9"/>
                      </a:solidFill>
                      <a:prstDash val="solid"/>
                    </a:lnR>
                    <a:lnB w="28575">
                      <a:solidFill>
                        <a:srgbClr val="F7F4E9"/>
                      </a:solidFill>
                      <a:prstDash val="solid"/>
                    </a:lnB>
                    <a:solidFill>
                      <a:srgbClr val="EDF0E3"/>
                    </a:solidFill>
                  </a:tcPr>
                </a:tc>
              </a:tr>
              <a:tr h="881063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E3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Генерация на WebGPU</a:t>
                      </a:r>
                    </a:p>
                  </a:txBody>
                  <a:tcPr marL="91440" marR="91440" marT="45720" marB="45720">
                    <a:lnL w="28575">
                      <a:solidFill>
                        <a:srgbClr val="F7F4E9"/>
                      </a:solidFill>
                      <a:prstDash val="solid"/>
                    </a:lnL>
                    <a:lnR w="28575">
                      <a:solidFill>
                        <a:srgbClr val="F7F4E9"/>
                      </a:solidFill>
                      <a:prstDash val="solid"/>
                    </a:lnR>
                    <a:lnB w="28575">
                      <a:solidFill>
                        <a:srgbClr val="F7F4E9"/>
                      </a:solidFill>
                      <a:prstDash val="solid"/>
                    </a:lnB>
                    <a:solidFill>
                      <a:srgbClr val="E4EAD4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E3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Полный GPU-прогон недоступен</a:t>
                      </a:r>
                    </a:p>
                  </a:txBody>
                  <a:tcPr marL="91440" marR="91440" marT="45720" marB="45720">
                    <a:lnR w="28575">
                      <a:solidFill>
                        <a:srgbClr val="F7F4E9"/>
                      </a:solidFill>
                      <a:prstDash val="solid"/>
                    </a:lnR>
                    <a:lnB w="28575">
                      <a:solidFill>
                        <a:srgbClr val="F7F4E9"/>
                      </a:solidFill>
                      <a:prstDash val="solid"/>
                    </a:lnB>
                    <a:solidFill>
                      <a:srgbClr val="E4EAD4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E3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Проверить на целевых устройствах</a:t>
                      </a:r>
                    </a:p>
                  </a:txBody>
                  <a:tcPr marL="91440" marR="91440" marT="45720" marB="45720">
                    <a:lnR w="28575">
                      <a:solidFill>
                        <a:srgbClr val="F7F4E9"/>
                      </a:solidFill>
                      <a:prstDash val="solid"/>
                    </a:lnR>
                    <a:lnB w="28575">
                      <a:solidFill>
                        <a:srgbClr val="F7F4E9"/>
                      </a:solidFill>
                      <a:prstDash val="solid"/>
                    </a:lnB>
                    <a:solidFill>
                      <a:srgbClr val="E4EAD4"/>
                    </a:solidFill>
                  </a:tcPr>
                </a:tc>
              </a:tr>
              <a:tr h="881063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E3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Голос → характеристики</a:t>
                      </a:r>
                    </a:p>
                  </a:txBody>
                  <a:tcPr marL="91440" marR="91440" marT="45720" marB="45720">
                    <a:lnL w="28575">
                      <a:solidFill>
                        <a:srgbClr val="F7F4E9"/>
                      </a:solidFill>
                      <a:prstDash val="solid"/>
                    </a:lnL>
                    <a:lnR w="28575">
                      <a:solidFill>
                        <a:srgbClr val="F7F4E9"/>
                      </a:solidFill>
                      <a:prstDash val="solid"/>
                    </a:lnR>
                    <a:lnB w="28575">
                      <a:solidFill>
                        <a:srgbClr val="F7F4E9"/>
                      </a:solidFill>
                      <a:prstDash val="solid"/>
                    </a:lnB>
                    <a:solidFill>
                      <a:srgbClr val="EDF0E3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E3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Проверен русский тестовый WAV</a:t>
                      </a:r>
                    </a:p>
                  </a:txBody>
                  <a:tcPr marL="91440" marR="91440" marT="45720" marB="45720">
                    <a:lnR w="28575">
                      <a:solidFill>
                        <a:srgbClr val="F7F4E9"/>
                      </a:solidFill>
                      <a:prstDash val="solid"/>
                    </a:lnR>
                    <a:lnB w="28575">
                      <a:solidFill>
                        <a:srgbClr val="F7F4E9"/>
                      </a:solidFill>
                      <a:prstDash val="solid"/>
                    </a:lnB>
                    <a:solidFill>
                      <a:srgbClr val="EDF0E3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E3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Проверить реальную речь и микрофоны</a:t>
                      </a:r>
                    </a:p>
                  </a:txBody>
                  <a:tcPr marL="91440" marR="91440" marT="45720" marB="45720">
                    <a:lnR w="28575">
                      <a:solidFill>
                        <a:srgbClr val="F7F4E9"/>
                      </a:solidFill>
                      <a:prstDash val="solid"/>
                    </a:lnR>
                    <a:lnB w="28575">
                      <a:solidFill>
                        <a:srgbClr val="F7F4E9"/>
                      </a:solidFill>
                      <a:prstDash val="solid"/>
                    </a:lnB>
                    <a:solidFill>
                      <a:srgbClr val="EDF0E3"/>
                    </a:solidFill>
                  </a:tcPr>
                </a:tc>
              </a:tr>
              <a:tr h="881063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E3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Качество фактов и удобство</a:t>
                      </a:r>
                    </a:p>
                  </a:txBody>
                  <a:tcPr marL="91440" marR="91440" marT="45720" marB="45720">
                    <a:lnL w="28575">
                      <a:solidFill>
                        <a:srgbClr val="F7F4E9"/>
                      </a:solidFill>
                      <a:prstDash val="solid"/>
                    </a:lnL>
                    <a:lnR w="28575">
                      <a:solidFill>
                        <a:srgbClr val="F7F4E9"/>
                      </a:solidFill>
                      <a:prstDash val="solid"/>
                    </a:lnR>
                    <a:lnB w="28575">
                      <a:solidFill>
                        <a:srgbClr val="F7F4E9"/>
                      </a:solidFill>
                      <a:prstDash val="solid"/>
                    </a:lnB>
                    <a:solidFill>
                      <a:srgbClr val="E4EAD4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E3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Пользовательская оценка не собрана</a:t>
                      </a:r>
                    </a:p>
                  </a:txBody>
                  <a:tcPr marL="91440" marR="91440" marT="45720" marB="45720">
                    <a:lnR w="28575">
                      <a:solidFill>
                        <a:srgbClr val="F7F4E9"/>
                      </a:solidFill>
                      <a:prstDash val="solid"/>
                    </a:lnR>
                    <a:lnB w="28575">
                      <a:solidFill>
                        <a:srgbClr val="F7F4E9"/>
                      </a:solidFill>
                      <a:prstDash val="solid"/>
                    </a:lnB>
                    <a:solidFill>
                      <a:srgbClr val="E4EAD4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93E3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Проверить ошибки и завершение</a:t>
                      </a:r>
                    </a:p>
                  </a:txBody>
                  <a:tcPr marL="91440" marR="91440" marT="45720" marB="45720">
                    <a:lnR w="28575">
                      <a:solidFill>
                        <a:srgbClr val="F7F4E9"/>
                      </a:solidFill>
                      <a:prstDash val="solid"/>
                    </a:lnR>
                    <a:lnB w="28575">
                      <a:solidFill>
                        <a:srgbClr val="F7F4E9"/>
                      </a:solidFill>
                      <a:prstDash val="solid"/>
                    </a:lnB>
                    <a:solidFill>
                      <a:srgbClr val="E4EAD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288160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7F4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E3C27F-16A6-47EC-A8D5-1C46F63D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001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111EB0F-A8D3-4B8C-8D2E-15F3634D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1476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ПЧЁЛКА  /  ТЕХНИЧЕСКИЙ ПАСПОРТ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C54012FD-E594-445F-B2E8-9F83D752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4000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38 / 39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1FDEB6-3BF2-4CF4-BEF8-B316F074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4488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A58497E8-38DF-4AD7-9E28-60898661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6393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КОНЦЕПТ ДЛЯ РСХБ.ЦИФРА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2E56B0D4-EEF3-4F6E-AE75-3044F033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9639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ПЧЁЛКА</a:t>
            </a:r>
          </a:p>
        </p:txBody>
      </p:sp>
      <p:sp>
        <p:nvSpPr>
          <p:cNvPr id="7" name="heading">
            <a:extLst xmlns:a="http://schemas.openxmlformats.org/drawingml/2006/main">
              <a:ext uri="{FF2B5EF4-FFF2-40B4-BE49-F238E27FC236}">
                <a16:creationId xmlns:a16="http://schemas.microsoft.com/office/drawing/2014/main" id="{0287D37A-5A69-4CE5-B81D-F18150D7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00150"/>
            <a:ext cx="166116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defRPr>
            </a:pPr>
            <a:r>
              <a:rPr sz="4800" b="0">
                <a:solidFill>
                  <a:srgbClr val="193E31"/>
                </a:solidFill>
                <a:latin typeface="DejaVu Serif"/>
                <a:ea typeface="DejaVu Serif"/>
                <a:cs typeface="DejaVu Serif"/>
              </a:rPr>
              <a:t>Запуск и контракт интеграции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0B668F3C-B5FA-490B-ADE0-DB32325F2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24900"/>
            <a:ext cx="16611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57568"/>
                </a:solidFill>
                <a:latin typeface="DejaVu Sans"/>
                <a:ea typeface="DejaVu Sans"/>
                <a:cs typeface="DejaVu Sans"/>
              </a:rPr>
              <a:t>Локальный запуск: Python 3 → start.bat → localhost:8000. Без .env и платного ключа. Docker — дополнительный вариант.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07272081-9BDF-4DDC-B62D-B72B8A75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0375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HTTP · поиск сведений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1BC13B10-D47B-4493-9D4A-19612136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24275"/>
            <a:ext cx="78105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GET /api/products?q=&lt;запрос&gt;</a:t>
            </a:r>
          </a:p>
          <a:p xmlns:a="http://schemas.openxmlformats.org/drawingml/2006/main">
            <a: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Название или GTIN: 2–120 символов.</a:t>
            </a:r>
          </a:p>
          <a:p xmlns:a="http://schemas.openxmlformats.org/drawingml/2006/main">
            <a: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Ответы: 200 / 400 / 429 / 503.</a:t>
            </a:r>
          </a:p>
          <a:p xmlns:a="http://schemas.openxmlformats.org/drawingml/2006/main">
            <a: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До 10 запросов в минуту на процесс.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6A036757-E7C7-40EB-936C-12BA5BFE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000375"/>
            <a:ext cx="790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JavaScript · встраивание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B7A49CE8-ECDD-48F0-84C4-1384C331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724275"/>
            <a:ext cx="79057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Bee.check → проверить данные</a:t>
            </a:r>
          </a:p>
          <a:p xmlns:a="http://schemas.openxmlformats.org/drawingml/2006/main">
            <a: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Bee.card / Bee.html → карточка / HTML</a:t>
            </a:r>
          </a:p>
          <a:p xmlns:a="http://schemas.openxmlformats.org/drawingml/2006/main">
            <a: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Bee.zip → пакет материалов</a:t>
            </a:r>
          </a:p>
          <a:p xmlns:a="http://schemas.openxmlformats.org/drawingml/2006/main">
            <a:pPr algn="l">
              <a:def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Bee.announcement → текст для канала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92BC61-8228-4C86-A1A1-EB8C1083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00825"/>
            <a:ext cx="166116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71A36555-8B28-4C32-A852-A5D89DD0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877050"/>
            <a:ext cx="16097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Лимиты ввода: 4 фото · 10 МБ и 20 Мп на файл</a:t>
            </a:r>
          </a:p>
          <a:p xmlns:a="http://schemas.openxmlformats.org/drawingml/2006/main">
            <a:pPr algn="l">
              <a:def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93E31"/>
                </a:solidFill>
                <a:latin typeface="DejaVu Sans"/>
                <a:ea typeface="DejaVu Sans"/>
                <a:cs typeface="DejaVu Sans"/>
              </a:rPr>
              <a:t>15 новых карточек в сутки в этом браузере · экспорт и правки без расхода квоты</a:t>
            </a:r>
          </a:p>
        </p:txBody>
      </p:sp>
    </p:spTree>
    <p:extLst>
      <p:ext uri="{BB962C8B-B14F-4D97-AF65-F5344CB8AC3E}">
        <p14:creationId xmlns:p14="http://schemas.microsoft.com/office/powerpoint/2010/main" val="49535942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193E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D64F20-9361-49C0-98FA-46CC5AFA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001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2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5B6A222-C449-4681-B5BE-9BB4478D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1476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7F4E9"/>
                </a:solidFill>
                <a:latin typeface="DejaVu Sans"/>
                <a:ea typeface="DejaVu Sans"/>
                <a:cs typeface="DejaVu Sans"/>
              </a:rPr>
              <a:t>ПЧЁЛКА  /  ПЧЁЛКА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09C339D5-8233-4D86-A0CA-FF32588D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4000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7F4E9"/>
                </a:solidFill>
                <a:latin typeface="DejaVu Sans"/>
                <a:ea typeface="DejaVu Sans"/>
                <a:cs typeface="DejaVu Sans"/>
              </a:rPr>
              <a:t>39 / 39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91AFFD-97FB-448E-8512-9BF48B56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4488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2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714FCEA2-E64E-48E4-B2D2-22EF9BB1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6393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7F4E9"/>
                </a:solidFill>
                <a:latin typeface="DejaVu Sans"/>
                <a:ea typeface="DejaVu Sans"/>
                <a:cs typeface="DejaVu Sans"/>
              </a:rPr>
              <a:t>КОНЦЕПТ ДЛЯ РСХБ.ЦИФРА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91A13453-3C3B-4387-A512-6B6C8E52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9639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7F4E9"/>
                </a:solidFill>
                <a:latin typeface="DejaVu Sans"/>
                <a:ea typeface="DejaVu Sans"/>
                <a:cs typeface="DejaVu Sans"/>
              </a:rPr>
              <a:t>ПЧЁЛКА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AB8DFCF4-563E-4EA0-BBFF-9B522F71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4573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675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675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675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675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675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675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675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675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675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675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675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pPr>
            <a:r>
              <a:rPr sz="675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rPr>
              <a:t>Один товар.</a:t>
            </a:r>
          </a:p>
          <a:p xmlns:a="http://schemas.openxmlformats.org/drawingml/2006/main">
            <a:pPr algn="l">
              <a:defRPr sz="675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pPr>
            <a:r>
              <a:rPr sz="675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rPr>
              <a:t>Проверенные данные.</a:t>
            </a:r>
          </a:p>
          <a:p xmlns:a="http://schemas.openxmlformats.org/drawingml/2006/main">
            <a:pPr algn="l">
              <a:defRPr sz="675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defRPr>
            </a:pPr>
            <a:r>
              <a:rPr sz="6750" b="0">
                <a:solidFill>
                  <a:srgbClr val="F7F4E9"/>
                </a:solidFill>
                <a:latin typeface="DejaVu Serif"/>
                <a:ea typeface="DejaVu Serif"/>
                <a:cs typeface="DejaVu Serif"/>
              </a:rPr>
              <a:t>Готовая карточка.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AA88208B-A423-42F5-BCC8-A6C8B6B6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72150"/>
            <a:ext cx="15621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8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8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8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8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8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8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8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8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8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8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F7F4E9"/>
                </a:solidFill>
                <a:latin typeface="DejaVu Sans"/>
                <a:ea typeface="DejaVu Sans"/>
                <a:cs typeface="DejaVu Sans"/>
              </a:rPr>
              <a:t>Следующий шаг — пилот на реальном ассортименте</a:t>
            </a:r>
          </a:p>
          <a:p xmlns:a="http://schemas.openxmlformats.org/drawingml/2006/main">
            <a:pPr algn="l">
              <a:defRPr sz="2850" b="0">
                <a:solidFill>
                  <a:srgbClr val="F7F4E9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F7F4E9"/>
                </a:solidFill>
                <a:latin typeface="DejaVu Sans"/>
                <a:ea typeface="DejaVu Sans"/>
                <a:cs typeface="DejaVu Sans"/>
              </a:rPr>
              <a:t>и устройствах продавцов.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D5B9893D-EFB6-45CD-9B60-6E70C6C7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600950"/>
            <a:ext cx="1600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75" b="0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75" b="0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75" b="0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75" b="0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75" b="0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75" b="0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75" b="0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75" b="0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75" b="0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E7BD5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E7BD58"/>
                </a:solidFill>
                <a:latin typeface="DejaVu Sans"/>
                <a:ea typeface="DejaVu Sans"/>
                <a:cs typeface="DejaVu Sans"/>
              </a:rPr>
              <a:t>Демо: rshb-card-lab.copperring512.chatgpt.site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D1EE40E0-087C-4F4B-807A-7295C9D43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258175"/>
            <a:ext cx="1514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E4EAD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E4EAD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E4EAD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E4EAD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E4EAD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E4EAD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E4EAD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E4EAD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E4EAD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E4EAD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E4EAD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E4EAD4"/>
                </a:solidFill>
                <a:latin typeface="DejaVu Sans"/>
                <a:ea typeface="DejaVu Sans"/>
                <a:cs typeface="DejaVu Sans"/>
              </a:rPr>
              <a:t>Концепт для РСХБ.цифра · Рабочий прототип</a:t>
            </a:r>
          </a:p>
          <a:p xmlns:a="http://schemas.openxmlformats.org/drawingml/2006/main">
            <a:pPr algn="l">
              <a:defRPr sz="1800" b="0">
                <a:solidFill>
                  <a:srgbClr val="E4EAD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E4EAD4"/>
                </a:solidFill>
                <a:latin typeface="DejaVu Sans"/>
                <a:ea typeface="DejaVu Sans"/>
                <a:cs typeface="DejaVu Sans"/>
              </a:rPr>
              <a:t>Демо требует входа в аккаунт владельца ChatGPT.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2E4960-B910-44E3-8D58-850DAA1E8E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718e894bd04345">
            <a:extLst>
              <a:ext uri="{96DAC541-7B7A-43D3-8B79-37D633B846F1}">
                <asvg:svgBlip xmlns:asvg="http://schemas.microsoft.com/office/drawing/2016/SVG/main" r:embed="Rae55327aa62b4f3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5097125" y="2095500"/>
            <a:ext cx="2095500" cy="2095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1248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2026-10-24T23:58:21.4210000Z</dcterms:created>
  <dcterms:modified xsi:type="dcterms:W3CDTF">2026-10-24T23:58:21.4210000Z</dcterms:modified>
</coreProperties>
</file>